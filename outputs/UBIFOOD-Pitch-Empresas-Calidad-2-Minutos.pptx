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e9a127371440d6" /><Relationship Type="http://schemas.openxmlformats.org/officeDocument/2006/relationships/extended-properties" Target="/docProps/app.xml" Id="Ra173eac86b7e49b5" /><Relationship Type="http://schemas.openxmlformats.org/officeDocument/2006/relationships/officeDocument" Target="/ppt/presentation.xml" Id="Rc84d0c5ab4f6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8d523b87d44630"/>
  </p:sldMasterIdLst>
  <p:notesMasterIdLst>
    <p:notesMasterId xmlns:r="http://schemas.openxmlformats.org/officeDocument/2006/relationships" r:id="Rb340b821d3d54068"/>
  </p:notesMasterIdLst>
  <p:sldIdLst>
    <p:sldId xmlns:r="http://schemas.openxmlformats.org/officeDocument/2006/relationships" id="256" r:id="R480f601bdac34f39"/>
    <p:sldId xmlns:r="http://schemas.openxmlformats.org/officeDocument/2006/relationships" id="257" r:id="R5ed7e2fa46d141a6"/>
    <p:sldId xmlns:r="http://schemas.openxmlformats.org/officeDocument/2006/relationships" id="258" r:id="R906fecee90644f74"/>
    <p:sldId xmlns:r="http://schemas.openxmlformats.org/officeDocument/2006/relationships" id="259" r:id="R27799346795c4bd1"/>
    <p:sldId xmlns:r="http://schemas.openxmlformats.org/officeDocument/2006/relationships" id="260" r:id="R4a54237ebd9a44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d734b3f38242e1" /><Relationship Type="http://schemas.openxmlformats.org/officeDocument/2006/relationships/slideMaster" Target="/ppt/slideMasters/slideMaster1.xml" Id="R858d523b87d44630" /><Relationship Type="http://schemas.openxmlformats.org/officeDocument/2006/relationships/notesMaster" Target="/ppt/notesMasters/notesMaster1.xml" Id="Rb340b821d3d54068" /><Relationship Type="http://schemas.openxmlformats.org/officeDocument/2006/relationships/presProps" Target="/ppt/presProps.xml" Id="Rd9426f8c7e42413f" /><Relationship Type="http://schemas.openxmlformats.org/officeDocument/2006/relationships/tableStyles" Target="/ppt/tableStyles.xml" Id="R1a4ee0458cf346af" /><Relationship Type="http://schemas.openxmlformats.org/officeDocument/2006/relationships/slide" Target="/ppt/slides/slide1.xml" Id="R480f601bdac34f39" /><Relationship Type="http://schemas.openxmlformats.org/officeDocument/2006/relationships/slide" Target="/ppt/slides/slide2.xml" Id="R5ed7e2fa46d141a6" /><Relationship Type="http://schemas.openxmlformats.org/officeDocument/2006/relationships/slide" Target="/ppt/slides/slide3.xml" Id="R906fecee90644f74" /><Relationship Type="http://schemas.openxmlformats.org/officeDocument/2006/relationships/slide" Target="/ppt/slides/slide4.xml" Id="R27799346795c4bd1" /><Relationship Type="http://schemas.openxmlformats.org/officeDocument/2006/relationships/slide" Target="/ppt/slides/slide5.xml" Id="R4a54237ebd9a44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5b775301ca4b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0c09b774db40a8" /><Relationship Type="http://schemas.openxmlformats.org/officeDocument/2006/relationships/notesMaster" Target="/ppt/notesMasters/notesMaster1.xml" Id="R8d20746024b749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c50306bc374eb1" /><Relationship Type="http://schemas.openxmlformats.org/officeDocument/2006/relationships/notesMaster" Target="/ppt/notesMasters/notesMaster1.xml" Id="Rd487dbf8f65e48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d667f687964946" /><Relationship Type="http://schemas.openxmlformats.org/officeDocument/2006/relationships/notesMaster" Target="/ppt/notesMasters/notesMaster1.xml" Id="Rfbf005c6d7c349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4c01d570894433" /><Relationship Type="http://schemas.openxmlformats.org/officeDocument/2006/relationships/notesMaster" Target="/ppt/notesMasters/notesMaster1.xml" Id="R7252a80a4be843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3ce684814949ab" /><Relationship Type="http://schemas.openxmlformats.org/officeDocument/2006/relationships/notesMaster" Target="/ppt/notesMasters/notesMaster1.xml" Id="R1db25efb1f074d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Buenas tardes. Ubifood nace para que los restaurantes pequeños y medianos de La Paz puedan ser descubiertos, y para que cada cliente tenga información suficiente para elegir dónde realmente vale la pena comer.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La Paz existen negocios con buena comida que no alcanzan suficiente reconocimiento porque su información está dispersa o no aparece cuando alguien busca. Del otro lado, el cliente no siempre conoce el menú, los precios o si el lugar es confiable. El resultado es poca visibilidad para la empresa y decisiones a ciegas para el consumidor.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restaurante obtiene una presencia clara: puede mostrar su identidad, horarios, ubicación, menú, precios y disponibilidad. El cliente lo descubre por comida, zona o presupuesto, compara alternativas y finalmente recibe una ruta a pie, en Mi Teleférico o PumaKatari. Así, Ubifood no se limita a mostrar el negocio: convierte visibilidad digital en una visita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saber dónde vale la pena comer, primero hacemos visible información verificable: los negocios son aprobados por administración y publican su menú, precios, ubicación y disponibilidad. Esto reduce la incertidumbre desde hoy. Como siguiente etapa, las calificaciones y comentarios de clientes construirán una reputación pública que premiará a los restaurantes que ofrecen una mejor experiencia.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beneficio es compartido: el restaurante gana reconocimiento y nuevos clientes; la persona compara antes de gastar; y la ciudad fortalece su oferta gastronómica local. El MVP ya funciona en web, como PWA y como APK Android, con una sola base de código preparada para crecer. Ubifood hace visibles a los negocios que vale la pena descubrir.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d2d904bab47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d3c8b5dd2642c8" /><Relationship Type="http://schemas.openxmlformats.org/officeDocument/2006/relationships/slideLayout" Target="/ppt/slideLayouts/slideLayout1.xml" Id="R87efdafa81b545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efdafa81b545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ea5c422fd4e03" /><Relationship Type="http://schemas.openxmlformats.org/officeDocument/2006/relationships/image" Target="/ppt/media/image.jpeg" Id="Rf34b9deb0ae24d60" /><Relationship Type="http://schemas.openxmlformats.org/officeDocument/2006/relationships/image" Target="/ppt/media/image.png" Id="R1430b8bfe3594a35" /><Relationship Type="http://schemas.openxmlformats.org/officeDocument/2006/relationships/notesSlide" Target="/ppt/notesSlides/notesSlide1.xml" Id="Re7260ac6ea544a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62813f0d74898" /><Relationship Type="http://schemas.openxmlformats.org/officeDocument/2006/relationships/image" Target="/ppt/media/image2.jpeg" Id="R5eaae5e3f39f469f" /><Relationship Type="http://schemas.openxmlformats.org/officeDocument/2006/relationships/notesSlide" Target="/ppt/notesSlides/notesSlide2.xml" Id="R3e5237c9874f41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cba9ba2444f5e" /><Relationship Type="http://schemas.openxmlformats.org/officeDocument/2006/relationships/image" Target="/ppt/media/image2.png" Id="Rb1f387a7df8d4259" /><Relationship Type="http://schemas.openxmlformats.org/officeDocument/2006/relationships/notesSlide" Target="/ppt/notesSlides/notesSlide3.xml" Id="R2aeb0024369147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ad762427944be" /><Relationship Type="http://schemas.openxmlformats.org/officeDocument/2006/relationships/image" Target="/ppt/media/image3.png" Id="R1d150ad9762b42da" /><Relationship Type="http://schemas.openxmlformats.org/officeDocument/2006/relationships/notesSlide" Target="/ppt/notesSlides/notesSlide4.xml" Id="Re14059ada86e45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041ed54f6427c" /><Relationship Type="http://schemas.openxmlformats.org/officeDocument/2006/relationships/image" Target="/ppt/media/image4.png" Id="R1d9fd3f2eae4479d" /><Relationship Type="http://schemas.openxmlformats.org/officeDocument/2006/relationships/notesSlide" Target="/ppt/notesSlides/notesSlide5.xml" Id="R655d5558ad564d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b9deb0ae24d60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ark-overlay">
            <a:extLst xmlns:a="http://schemas.openxmlformats.org/drawingml/2006/main">
              <a:ext uri="{FF2B5EF4-FFF2-40B4-BE49-F238E27FC236}">
                <a16:creationId xmlns:a16="http://schemas.microsoft.com/office/drawing/2014/main" id="{9D356A86-0587-474F-9037-BD86AEE5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0D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range-rail">
            <a:extLst xmlns:a="http://schemas.openxmlformats.org/drawingml/2006/main">
              <a:ext uri="{FF2B5EF4-FFF2-40B4-BE49-F238E27FC236}">
                <a16:creationId xmlns:a16="http://schemas.microsoft.com/office/drawing/2014/main" id="{93549BE8-E257-4AEE-8EFE-1A6361EC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lor-1">
            <a:extLst xmlns:a="http://schemas.openxmlformats.org/drawingml/2006/main">
              <a:ext uri="{FF2B5EF4-FFF2-40B4-BE49-F238E27FC236}">
                <a16:creationId xmlns:a16="http://schemas.microsoft.com/office/drawing/2014/main" id="{3BF6FFFD-6C7F-4E07-8E3F-FE0F7DE7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lor-2">
            <a:extLst xmlns:a="http://schemas.openxmlformats.org/drawingml/2006/main">
              <a:ext uri="{FF2B5EF4-FFF2-40B4-BE49-F238E27FC236}">
                <a16:creationId xmlns:a16="http://schemas.microsoft.com/office/drawing/2014/main" id="{E36F7AC0-7559-4B51-A246-18528B5C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3716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lor-3">
            <a:extLst xmlns:a="http://schemas.openxmlformats.org/drawingml/2006/main">
              <a:ext uri="{FF2B5EF4-FFF2-40B4-BE49-F238E27FC236}">
                <a16:creationId xmlns:a16="http://schemas.microsoft.com/office/drawing/2014/main" id="{1A911552-7309-41B5-8907-4D9431C7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7432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lor-4">
            <a:extLst xmlns:a="http://schemas.openxmlformats.org/drawingml/2006/main">
              <a:ext uri="{FF2B5EF4-FFF2-40B4-BE49-F238E27FC236}">
                <a16:creationId xmlns:a16="http://schemas.microsoft.com/office/drawing/2014/main" id="{8B438BCF-2532-40B7-AC9D-A8C9A3AD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114800"/>
            <a:ext cx="762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0b8bfe3594a35"/>
          <a:stretch xmlns:a="http://schemas.openxmlformats.org/drawingml/2006/main"/>
        </p:blipFill>
        <p:spPr>
          <a:xfrm xmlns:a="http://schemas.openxmlformats.org/drawingml/2006/main">
            <a:off x="877628" y="647700"/>
            <a:ext cx="1445143" cy="1123950"/>
          </a:xfrm>
          <a:prstGeom xmlns:a="http://schemas.openxmlformats.org/drawingml/2006/main" prst="roundRect">
            <a:avLst>
              <a:gd name="adj" fmla="val 6780"/>
            </a:avLst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39D52E3-846A-411D-A484-1E789EE1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UBIFOOD</a:t>
            </a:r>
          </a:p>
        </p:txBody>
      </p:sp>
      <p:sp>
        <p:nvSpPr>
          <p:cNvPr id="10" name="subtitle">
            <a:extLst xmlns:a="http://schemas.openxmlformats.org/drawingml/2006/main">
              <a:ext uri="{FF2B5EF4-FFF2-40B4-BE49-F238E27FC236}">
                <a16:creationId xmlns:a16="http://schemas.microsoft.com/office/drawing/2014/main" id="{B61957D8-8BD9-4394-9350-59A0EDE6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Más visibilidad para negocios. Más confianza para elegir.</a:t>
            </a:r>
          </a:p>
        </p:txBody>
      </p:sp>
      <p:sp>
        <p:nvSpPr>
          <p:cNvPr id="11" name="title-rule">
            <a:extLst xmlns:a="http://schemas.openxmlformats.org/drawingml/2006/main">
              <a:ext uri="{FF2B5EF4-FFF2-40B4-BE49-F238E27FC236}">
                <a16:creationId xmlns:a16="http://schemas.microsoft.com/office/drawing/2014/main" id="{FD6783F7-D544-4408-A46A-0B8F069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ext">
            <a:extLst xmlns:a="http://schemas.openxmlformats.org/drawingml/2006/main">
              <a:ext uri="{FF2B5EF4-FFF2-40B4-BE49-F238E27FC236}">
                <a16:creationId xmlns:a16="http://schemas.microsoft.com/office/drawing/2014/main" id="{E12A52D0-DABC-49EC-A4E5-079E12BF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>
                    <a:alpha val="78000"/>
                  </a:srgbClr>
                </a:solidFill>
              </a:defRPr>
            </a:pPr>
            <a:r>
              <a:rPr sz="1500">
                <a:solidFill>
                  <a:srgbClr val="FFFFFF">
                    <a:alpha val="78000"/>
                  </a:srgbClr>
                </a:solidFill>
              </a:rPr>
              <a:t>MVP para la ciudad de La Paz, Bolivia</a:t>
            </a:r>
          </a:p>
        </p:txBody>
      </p:sp>
      <p:sp>
        <p:nvSpPr>
          <p:cNvPr id="13" name="url">
            <a:extLst xmlns:a="http://schemas.openxmlformats.org/drawingml/2006/main">
              <a:ext uri="{FF2B5EF4-FFF2-40B4-BE49-F238E27FC236}">
                <a16:creationId xmlns:a16="http://schemas.microsoft.com/office/drawing/2014/main" id="{5361F62E-3A95-461D-98C2-BDF9054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A0A"/>
                </a:solidFill>
              </a:defRPr>
            </a:pPr>
            <a:r>
              <a:rPr sz="1200" b="1">
                <a:solidFill>
                  <a:srgbClr val="FFCA0A"/>
                </a:solidFill>
              </a:rPr>
              <a:t>ubifood-livid.vercel.app</a:t>
            </a:r>
          </a:p>
        </p:txBody>
      </p:sp>
    </p:spTree>
    <p:extLst>
      <p:ext uri="{BB962C8B-B14F-4D97-AF65-F5344CB8AC3E}">
        <p14:creationId xmlns:p14="http://schemas.microsoft.com/office/powerpoint/2010/main" val="2008365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ae5e3f39f469f"/>
          <a:srcRect xmlns:a="http://schemas.openxmlformats.org/drawingml/2006/main" l="28733" t="0" r="287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mage-overlay">
            <a:extLst xmlns:a="http://schemas.openxmlformats.org/drawingml/2006/main">
              <a:ext uri="{FF2B5EF4-FFF2-40B4-BE49-F238E27FC236}">
                <a16:creationId xmlns:a16="http://schemas.microsoft.com/office/drawing/2014/main" id="{E5278D43-27E7-4E0C-9CD2-61FC52A4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1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range-band">
            <a:extLst xmlns:a="http://schemas.openxmlformats.org/drawingml/2006/main">
              <a:ext uri="{FF2B5EF4-FFF2-40B4-BE49-F238E27FC236}">
                <a16:creationId xmlns:a16="http://schemas.microsoft.com/office/drawing/2014/main" id="{0E60B8BF-266A-4137-8DEE-DC8B0586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4667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B84FD1BF-2773-447F-95B2-CFE8A0B7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3571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POCA VISIBILIDAD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+ DECISIONES A CIEGAS</a:t>
            </a:r>
          </a:p>
        </p:txBody>
      </p:sp>
      <p:sp>
        <p:nvSpPr>
          <p:cNvPr id="5" name="accent-0">
            <a:extLst xmlns:a="http://schemas.openxmlformats.org/drawingml/2006/main">
              <a:ext uri="{FF2B5EF4-FFF2-40B4-BE49-F238E27FC236}">
                <a16:creationId xmlns:a16="http://schemas.microsoft.com/office/drawing/2014/main" id="{97E94814-68F4-4011-84ED-5EAE519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ccent-1">
            <a:extLst xmlns:a="http://schemas.openxmlformats.org/drawingml/2006/main">
              <a:ext uri="{FF2B5EF4-FFF2-40B4-BE49-F238E27FC236}">
                <a16:creationId xmlns:a16="http://schemas.microsoft.com/office/drawing/2014/main" id="{15072B1C-B106-4C99-A9D7-42563F22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cent-2">
            <a:extLst xmlns:a="http://schemas.openxmlformats.org/drawingml/2006/main">
              <a:ext uri="{FF2B5EF4-FFF2-40B4-BE49-F238E27FC236}">
                <a16:creationId xmlns:a16="http://schemas.microsoft.com/office/drawing/2014/main" id="{50C3038E-2525-4D36-8BC0-37DA9E63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ccent-3">
            <a:extLst xmlns:a="http://schemas.openxmlformats.org/drawingml/2006/main">
              <a:ext uri="{FF2B5EF4-FFF2-40B4-BE49-F238E27FC236}">
                <a16:creationId xmlns:a16="http://schemas.microsoft.com/office/drawing/2014/main" id="{6699D3F3-8FBE-4FD4-ADC9-951283B1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nt-4">
            <a:extLst xmlns:a="http://schemas.openxmlformats.org/drawingml/2006/main">
              <a:ext uri="{FF2B5EF4-FFF2-40B4-BE49-F238E27FC236}">
                <a16:creationId xmlns:a16="http://schemas.microsoft.com/office/drawing/2014/main" id="{0C61AD1B-DECC-482B-834D-DD0A1A4B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A38F6D3-8621-4C37-AEED-3B2E6E10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04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6F21"/>
                </a:solidFill>
              </a:defRPr>
            </a:pPr>
            <a:r>
              <a:rPr sz="1050" b="1">
                <a:solidFill>
                  <a:srgbClr val="F36F21"/>
                </a:solidFill>
              </a:rPr>
              <a:t>EL PROBLEMA</a:t>
            </a:r>
          </a:p>
        </p:txBody>
      </p:sp>
      <p:sp>
        <p:nvSpPr>
          <p:cNvPr id="11" name="headline">
            <a:extLst xmlns:a="http://schemas.openxmlformats.org/drawingml/2006/main">
              <a:ext uri="{FF2B5EF4-FFF2-40B4-BE49-F238E27FC236}">
                <a16:creationId xmlns:a16="http://schemas.microsoft.com/office/drawing/2014/main" id="{2EE0AA76-B378-4F7F-BD4F-636EB864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23950"/>
            <a:ext cx="609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A17"/>
                </a:solidFill>
              </a:defRPr>
            </a:pPr>
            <a:r>
              <a:rPr sz="3000" b="1">
                <a:solidFill>
                  <a:srgbClr val="171A17"/>
                </a:solidFill>
              </a:rPr>
              <a:t>Buenos restaurantes pueden pasar desapercibidos.</a:t>
            </a:r>
          </a:p>
        </p:txBody>
      </p:sp>
      <p:sp>
        <p:nvSpPr>
          <p:cNvPr id="12" name="number-one">
            <a:extLst xmlns:a="http://schemas.openxmlformats.org/drawingml/2006/main">
              <a:ext uri="{FF2B5EF4-FFF2-40B4-BE49-F238E27FC236}">
                <a16:creationId xmlns:a16="http://schemas.microsoft.com/office/drawing/2014/main" id="{4368A598-F19D-4C42-92B4-6657BBD6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B7DF"/>
                </a:solidFill>
              </a:defRPr>
            </a:pPr>
            <a:r>
              <a:rPr sz="2100" b="1">
                <a:solidFill>
                  <a:srgbClr val="00B7DF"/>
                </a:solidFill>
              </a:rPr>
              <a:t>01</a:t>
            </a:r>
          </a:p>
        </p:txBody>
      </p:sp>
      <p:sp>
        <p:nvSpPr>
          <p:cNvPr id="13" name="citizen-title">
            <a:extLst xmlns:a="http://schemas.openxmlformats.org/drawingml/2006/main">
              <a:ext uri="{FF2B5EF4-FFF2-40B4-BE49-F238E27FC236}">
                <a16:creationId xmlns:a16="http://schemas.microsoft.com/office/drawing/2014/main" id="{2C7E52B9-6F5A-4FCC-84A2-643C8A8A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A17"/>
                </a:solidFill>
              </a:defRPr>
            </a:pPr>
            <a:r>
              <a:rPr sz="1875" b="1">
                <a:solidFill>
                  <a:srgbClr val="171A17"/>
                </a:solidFill>
              </a:rPr>
              <a:t>Para los negocios</a:t>
            </a:r>
          </a:p>
        </p:txBody>
      </p:sp>
      <p:sp>
        <p:nvSpPr>
          <p:cNvPr id="14" name="citizen-copy">
            <a:extLst xmlns:a="http://schemas.openxmlformats.org/drawingml/2006/main">
              <a:ext uri="{FF2B5EF4-FFF2-40B4-BE49-F238E27FC236}">
                <a16:creationId xmlns:a16="http://schemas.microsoft.com/office/drawing/2014/main" id="{92B36CC2-3155-459E-A59F-93973E61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55F"/>
                </a:solidFill>
              </a:defRPr>
            </a:pPr>
            <a:r>
              <a:rPr sz="1425">
                <a:solidFill>
                  <a:srgbClr val="5E655F"/>
                </a:solidFill>
              </a:rPr>
              <a:t>Sin una vitrina digital centralizada, incluso una buena propuesta puede quedar fuera del mapa del cliente.</a:t>
            </a:r>
          </a:p>
        </p:txBody>
      </p:sp>
      <p:sp>
        <p:nvSpPr>
          <p:cNvPr id="15" name="divider">
            <a:extLst xmlns:a="http://schemas.openxmlformats.org/drawingml/2006/main">
              <a:ext uri="{FF2B5EF4-FFF2-40B4-BE49-F238E27FC236}">
                <a16:creationId xmlns:a16="http://schemas.microsoft.com/office/drawing/2014/main" id="{9B8D512B-A35B-4711-AF77-1761D14C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ber-two">
            <a:extLst xmlns:a="http://schemas.openxmlformats.org/drawingml/2006/main">
              <a:ext uri="{FF2B5EF4-FFF2-40B4-BE49-F238E27FC236}">
                <a16:creationId xmlns:a16="http://schemas.microsoft.com/office/drawing/2014/main" id="{20122BA3-0F7C-46E4-8C30-1831DB75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96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2C91E"/>
                </a:solidFill>
              </a:defRPr>
            </a:pPr>
            <a:r>
              <a:rPr sz="2100" b="1">
                <a:solidFill>
                  <a:srgbClr val="82C91E"/>
                </a:solidFill>
              </a:rPr>
              <a:t>02</a:t>
            </a:r>
          </a:p>
        </p:txBody>
      </p:sp>
      <p:sp>
        <p:nvSpPr>
          <p:cNvPr id="17" name="business-title">
            <a:extLst xmlns:a="http://schemas.openxmlformats.org/drawingml/2006/main">
              <a:ext uri="{FF2B5EF4-FFF2-40B4-BE49-F238E27FC236}">
                <a16:creationId xmlns:a16="http://schemas.microsoft.com/office/drawing/2014/main" id="{AC1F4AC4-09E7-4F34-974C-0C44D764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A17"/>
                </a:solidFill>
              </a:defRPr>
            </a:pPr>
            <a:r>
              <a:rPr sz="1875" b="1">
                <a:solidFill>
                  <a:srgbClr val="171A17"/>
                </a:solidFill>
              </a:rPr>
              <a:t>Para los clientes</a:t>
            </a:r>
          </a:p>
        </p:txBody>
      </p:sp>
      <p:sp>
        <p:nvSpPr>
          <p:cNvPr id="18" name="business-copy">
            <a:extLst xmlns:a="http://schemas.openxmlformats.org/drawingml/2006/main">
              <a:ext uri="{FF2B5EF4-FFF2-40B4-BE49-F238E27FC236}">
                <a16:creationId xmlns:a16="http://schemas.microsoft.com/office/drawing/2014/main" id="{5D281DCA-D7FD-4DD2-8116-00A63F04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7682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55F"/>
                </a:solidFill>
              </a:defRPr>
            </a:pPr>
            <a:r>
              <a:rPr sz="1425">
                <a:solidFill>
                  <a:srgbClr val="5E655F"/>
                </a:solidFill>
              </a:rPr>
              <a:t>Sin menú, precios y señales de confianza, escoger un restaurante se convierte en una apuesta.</a:t>
            </a:r>
          </a:p>
        </p:txBody>
      </p:sp>
      <p:sp>
        <p:nvSpPr>
          <p:cNvPr id="19" name="footer-2">
            <a:extLst xmlns:a="http://schemas.openxmlformats.org/drawingml/2006/main">
              <a:ext uri="{FF2B5EF4-FFF2-40B4-BE49-F238E27FC236}">
                <a16:creationId xmlns:a16="http://schemas.microsoft.com/office/drawing/2014/main" id="{B496B0DC-2807-4E9A-8586-51049597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1A17">
                    <a:alpha val="45000"/>
                  </a:srgbClr>
                </a:solidFill>
              </a:defRPr>
            </a:pPr>
            <a:r>
              <a:rPr sz="825" b="1">
                <a:solidFill>
                  <a:srgbClr val="171A17">
                    <a:alpha val="45000"/>
                  </a:srgbClr>
                </a:solidFill>
              </a:rPr>
              <a:t>UBIFOOD  /  LA PAZ  /  02</a:t>
            </a:r>
          </a:p>
        </p:txBody>
      </p:sp>
    </p:spTree>
    <p:extLst>
      <p:ext uri="{BB962C8B-B14F-4D97-AF65-F5344CB8AC3E}">
        <p14:creationId xmlns:p14="http://schemas.microsoft.com/office/powerpoint/2010/main" val="1674329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0">
            <a:extLst xmlns:a="http://schemas.openxmlformats.org/drawingml/2006/main">
              <a:ext uri="{FF2B5EF4-FFF2-40B4-BE49-F238E27FC236}">
                <a16:creationId xmlns:a16="http://schemas.microsoft.com/office/drawing/2014/main" id="{E7FBE60E-F44F-4A4D-AB05-2497851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1">
            <a:extLst xmlns:a="http://schemas.openxmlformats.org/drawingml/2006/main">
              <a:ext uri="{FF2B5EF4-FFF2-40B4-BE49-F238E27FC236}">
                <a16:creationId xmlns:a16="http://schemas.microsoft.com/office/drawing/2014/main" id="{BEB1FC49-7372-4361-8139-6ECD6CD6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2">
            <a:extLst xmlns:a="http://schemas.openxmlformats.org/drawingml/2006/main">
              <a:ext uri="{FF2B5EF4-FFF2-40B4-BE49-F238E27FC236}">
                <a16:creationId xmlns:a16="http://schemas.microsoft.com/office/drawing/2014/main" id="{B7AD9D3C-BEB4-45CF-9439-1D4805B1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ccent-3">
            <a:extLst xmlns:a="http://schemas.openxmlformats.org/drawingml/2006/main">
              <a:ext uri="{FF2B5EF4-FFF2-40B4-BE49-F238E27FC236}">
                <a16:creationId xmlns:a16="http://schemas.microsoft.com/office/drawing/2014/main" id="{96B2CF96-B578-44C5-9A04-E7F4DCF6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ent-4">
            <a:extLst xmlns:a="http://schemas.openxmlformats.org/drawingml/2006/main">
              <a:ext uri="{FF2B5EF4-FFF2-40B4-BE49-F238E27FC236}">
                <a16:creationId xmlns:a16="http://schemas.microsoft.com/office/drawing/2014/main" id="{EC00DF95-1EF1-4994-A156-A806B89E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C165EC0-221B-4535-970D-F4FEEEBC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B7DF"/>
                </a:solidFill>
              </a:defRPr>
            </a:pPr>
            <a:r>
              <a:rPr sz="1050" b="1">
                <a:solidFill>
                  <a:srgbClr val="00B7DF"/>
                </a:solidFill>
              </a:rPr>
              <a:t>LA EXPERIENCIA</a:t>
            </a:r>
          </a:p>
        </p:txBody>
      </p:sp>
      <p:sp>
        <p:nvSpPr>
          <p:cNvPr id="7" name="headline">
            <a:extLst xmlns:a="http://schemas.openxmlformats.org/drawingml/2006/main">
              <a:ext uri="{FF2B5EF4-FFF2-40B4-BE49-F238E27FC236}">
                <a16:creationId xmlns:a16="http://schemas.microsoft.com/office/drawing/2014/main" id="{A8EFC270-46B6-438F-829D-ED6E8323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A17"/>
                </a:solidFill>
              </a:defRPr>
            </a:pPr>
            <a:r>
              <a:rPr sz="3000" b="1">
                <a:solidFill>
                  <a:srgbClr val="171A17"/>
                </a:solidFill>
              </a:rPr>
              <a:t>Una vitrina digital que sí conduce hasta el negocio.</a:t>
            </a:r>
          </a:p>
        </p:txBody>
      </p:sp>
      <p:sp>
        <p:nvSpPr>
          <p:cNvPr id="8" name="step-dot-1">
            <a:extLst xmlns:a="http://schemas.openxmlformats.org/drawingml/2006/main">
              <a:ext uri="{FF2B5EF4-FFF2-40B4-BE49-F238E27FC236}">
                <a16:creationId xmlns:a16="http://schemas.microsoft.com/office/drawing/2014/main" id="{2598A650-FFE4-4D5E-8ADB-333CB126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2D5F142-3069-4E6C-94C5-6424C1B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3BF73768-9C69-411A-A7FE-CE8BE066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Se presenta</a:t>
            </a:r>
          </a:p>
        </p:txBody>
      </p:sp>
      <p:sp>
        <p:nvSpPr>
          <p:cNvPr id="11" name="step-copy-1">
            <a:extLst xmlns:a="http://schemas.openxmlformats.org/drawingml/2006/main">
              <a:ext uri="{FF2B5EF4-FFF2-40B4-BE49-F238E27FC236}">
                <a16:creationId xmlns:a16="http://schemas.microsoft.com/office/drawing/2014/main" id="{0DEE2410-35D9-46A0-98BA-3554CEB1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55F"/>
                </a:solidFill>
              </a:defRPr>
            </a:pPr>
            <a:r>
              <a:rPr sz="1200">
                <a:solidFill>
                  <a:srgbClr val="5E655F"/>
                </a:solidFill>
              </a:rPr>
              <a:t>Ficha, ubicación, horarios e identidad.</a:t>
            </a:r>
          </a:p>
        </p:txBody>
      </p:sp>
      <p:sp>
        <p:nvSpPr>
          <p:cNvPr id="12" name="step-dot-2">
            <a:extLst xmlns:a="http://schemas.openxmlformats.org/drawingml/2006/main">
              <a:ext uri="{FF2B5EF4-FFF2-40B4-BE49-F238E27FC236}">
                <a16:creationId xmlns:a16="http://schemas.microsoft.com/office/drawing/2014/main" id="{F090FDBB-670C-493E-8354-1DEDB374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74FED20-2E04-4945-8195-BC8AC94B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60CD2DED-5BF8-4AF1-9663-75BB9ED0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384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Muestra</a:t>
            </a:r>
          </a:p>
        </p:txBody>
      </p:sp>
      <p:sp>
        <p:nvSpPr>
          <p:cNvPr id="15" name="step-copy-2">
            <a:extLst xmlns:a="http://schemas.openxmlformats.org/drawingml/2006/main">
              <a:ext uri="{FF2B5EF4-FFF2-40B4-BE49-F238E27FC236}">
                <a16:creationId xmlns:a16="http://schemas.microsoft.com/office/drawing/2014/main" id="{7E430611-B266-48E9-849C-ADC3094A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55F"/>
                </a:solidFill>
              </a:defRPr>
            </a:pPr>
            <a:r>
              <a:rPr sz="1200">
                <a:solidFill>
                  <a:srgbClr val="5E655F"/>
                </a:solidFill>
              </a:rPr>
              <a:t>Menú, precios y disponibilidad real.</a:t>
            </a:r>
          </a:p>
        </p:txBody>
      </p:sp>
      <p:sp>
        <p:nvSpPr>
          <p:cNvPr id="16" name="step-dot-3">
            <a:extLst xmlns:a="http://schemas.openxmlformats.org/drawingml/2006/main">
              <a:ext uri="{FF2B5EF4-FFF2-40B4-BE49-F238E27FC236}">
                <a16:creationId xmlns:a16="http://schemas.microsoft.com/office/drawing/2014/main" id="{F1ED049E-AF9E-472D-8B24-73D9B5F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D31D71F9-6314-4EA5-8A12-92005CFF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05E41C9A-A8FF-4837-A038-8B35DE37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Se descubre</a:t>
            </a:r>
          </a:p>
        </p:txBody>
      </p:sp>
      <p:sp>
        <p:nvSpPr>
          <p:cNvPr id="19" name="step-copy-3">
            <a:extLst xmlns:a="http://schemas.openxmlformats.org/drawingml/2006/main">
              <a:ext uri="{FF2B5EF4-FFF2-40B4-BE49-F238E27FC236}">
                <a16:creationId xmlns:a16="http://schemas.microsoft.com/office/drawing/2014/main" id="{2432A2AA-678C-421A-8D6C-A1333456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55F"/>
                </a:solidFill>
              </a:defRPr>
            </a:pPr>
            <a:r>
              <a:rPr sz="1200">
                <a:solidFill>
                  <a:srgbClr val="5E655F"/>
                </a:solidFill>
              </a:rPr>
              <a:t>Búsqueda por comida, zona y presupuesto.</a:t>
            </a:r>
          </a:p>
        </p:txBody>
      </p:sp>
      <p:sp>
        <p:nvSpPr>
          <p:cNvPr id="20" name="step-dot-4">
            <a:extLst xmlns:a="http://schemas.openxmlformats.org/drawingml/2006/main">
              <a:ext uri="{FF2B5EF4-FFF2-40B4-BE49-F238E27FC236}">
                <a16:creationId xmlns:a16="http://schemas.microsoft.com/office/drawing/2014/main" id="{C5FE7A18-5CB1-4A68-BE22-B68FEBD2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EA8D3A24-9CD2-4832-BAA4-A3833758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4</a:t>
            </a:r>
          </a:p>
        </p:txBody>
      </p:sp>
      <p:sp>
        <p:nvSpPr>
          <p:cNvPr id="22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EE17E7CE-3EC3-42C9-B02D-E7CC0C36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Convierte</a:t>
            </a:r>
          </a:p>
        </p:txBody>
      </p:sp>
      <p:sp>
        <p:nvSpPr>
          <p:cNvPr id="23" name="step-copy-4">
            <a:extLst xmlns:a="http://schemas.openxmlformats.org/drawingml/2006/main">
              <a:ext uri="{FF2B5EF4-FFF2-40B4-BE49-F238E27FC236}">
                <a16:creationId xmlns:a16="http://schemas.microsoft.com/office/drawing/2014/main" id="{7B1800AA-5E9F-4CF9-AFE8-1C05C625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55F"/>
                </a:solidFill>
              </a:defRPr>
            </a:pPr>
            <a:r>
              <a:rPr sz="1200">
                <a:solidFill>
                  <a:srgbClr val="5E655F"/>
                </a:solidFill>
              </a:rPr>
              <a:t>La ruta lleva al cliente hasta su puerta.</a:t>
            </a:r>
          </a:p>
        </p:txBody>
      </p:sp>
      <p:sp>
        <p:nvSpPr>
          <p:cNvPr id="24" name="screenshot-shadow">
            <a:extLst xmlns:a="http://schemas.openxmlformats.org/drawingml/2006/main">
              <a:ext uri="{FF2B5EF4-FFF2-40B4-BE49-F238E27FC236}">
                <a16:creationId xmlns:a16="http://schemas.microsoft.com/office/drawing/2014/main" id="{FD5274D5-84A3-4FBB-AA74-3F27EA3E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69532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71A17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387a7df8d4259"/>
          <a:stretch xmlns:a="http://schemas.openxmlformats.org/drawingml/2006/main"/>
        </p:blipFill>
        <p:spPr>
          <a:xfrm xmlns:a="http://schemas.openxmlformats.org/drawingml/2006/main">
            <a:off x="4362450" y="2344863"/>
            <a:ext cx="6953250" cy="3082673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26" name="footer-3">
            <a:extLst xmlns:a="http://schemas.openxmlformats.org/drawingml/2006/main">
              <a:ext uri="{FF2B5EF4-FFF2-40B4-BE49-F238E27FC236}">
                <a16:creationId xmlns:a16="http://schemas.microsoft.com/office/drawing/2014/main" id="{74784DC6-0930-4248-96DF-6218463C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1A17">
                    <a:alpha val="45000"/>
                  </a:srgbClr>
                </a:solidFill>
              </a:defRPr>
            </a:pPr>
            <a:r>
              <a:rPr sz="825" b="1">
                <a:solidFill>
                  <a:srgbClr val="171A17">
                    <a:alpha val="45000"/>
                  </a:srgbClr>
                </a:solidFill>
              </a:rPr>
              <a:t>UBIFOOD  /  LA PAZ  /  03</a:t>
            </a:r>
          </a:p>
        </p:txBody>
      </p:sp>
    </p:spTree>
    <p:extLst>
      <p:ext uri="{BB962C8B-B14F-4D97-AF65-F5344CB8AC3E}">
        <p14:creationId xmlns:p14="http://schemas.microsoft.com/office/powerpoint/2010/main" val="2087619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A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een-rail">
            <a:extLst xmlns:a="http://schemas.openxmlformats.org/drawingml/2006/main">
              <a:ext uri="{FF2B5EF4-FFF2-40B4-BE49-F238E27FC236}">
                <a16:creationId xmlns:a16="http://schemas.microsoft.com/office/drawing/2014/main" id="{F3508CC8-5BD6-46F8-AD46-B2780FB0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0">
            <a:extLst xmlns:a="http://schemas.openxmlformats.org/drawingml/2006/main">
              <a:ext uri="{FF2B5EF4-FFF2-40B4-BE49-F238E27FC236}">
                <a16:creationId xmlns:a16="http://schemas.microsoft.com/office/drawing/2014/main" id="{22D58EA1-7F01-4A56-94A7-795508AF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DDD2BC8E-214E-4B0A-8145-D3680CE2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ccent-2">
            <a:extLst xmlns:a="http://schemas.openxmlformats.org/drawingml/2006/main">
              <a:ext uri="{FF2B5EF4-FFF2-40B4-BE49-F238E27FC236}">
                <a16:creationId xmlns:a16="http://schemas.microsoft.com/office/drawing/2014/main" id="{F6CB8A7F-7123-4B32-BD85-631A5205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ent-3">
            <a:extLst xmlns:a="http://schemas.openxmlformats.org/drawingml/2006/main">
              <a:ext uri="{FF2B5EF4-FFF2-40B4-BE49-F238E27FC236}">
                <a16:creationId xmlns:a16="http://schemas.microsoft.com/office/drawing/2014/main" id="{CBAB9294-F911-4DFF-AB87-47FD0C06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ccent-4">
            <a:extLst xmlns:a="http://schemas.openxmlformats.org/drawingml/2006/main">
              <a:ext uri="{FF2B5EF4-FFF2-40B4-BE49-F238E27FC236}">
                <a16:creationId xmlns:a16="http://schemas.microsoft.com/office/drawing/2014/main" id="{3576B36B-94D9-42C5-9256-D27D0C08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034E8DA4-9D92-4DA5-B5A4-9D33F49D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2C91E"/>
                </a:solidFill>
              </a:defRPr>
            </a:pPr>
            <a:r>
              <a:rPr sz="1050" b="1">
                <a:solidFill>
                  <a:srgbClr val="82C91E"/>
                </a:solidFill>
              </a:rPr>
              <a:t>CALIDAD + CONFIANZA</a:t>
            </a:r>
          </a:p>
        </p:txBody>
      </p:sp>
      <p:sp>
        <p:nvSpPr>
          <p:cNvPr id="8" name="headline">
            <a:extLst xmlns:a="http://schemas.openxmlformats.org/drawingml/2006/main">
              <a:ext uri="{FF2B5EF4-FFF2-40B4-BE49-F238E27FC236}">
                <a16:creationId xmlns:a16="http://schemas.microsoft.com/office/drawing/2014/main" id="{95753519-A03B-4E45-8B04-CCD2485D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calidad deja de ser una apuesta.</a:t>
            </a:r>
          </a:p>
        </p:txBody>
      </p:sp>
      <p:sp>
        <p:nvSpPr>
          <p:cNvPr id="9" name="business-copy">
            <a:extLst xmlns:a="http://schemas.openxmlformats.org/drawingml/2006/main">
              <a:ext uri="{FF2B5EF4-FFF2-40B4-BE49-F238E27FC236}">
                <a16:creationId xmlns:a16="http://schemas.microsoft.com/office/drawing/2014/main" id="{BB7FF4E1-B608-4031-8198-04B4979A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>
                    <a:alpha val="72000"/>
                  </a:srgbClr>
                </a:solidFill>
              </a:defRPr>
            </a:pPr>
            <a:r>
              <a:rPr sz="1650">
                <a:solidFill>
                  <a:srgbClr val="FFFFFF">
                    <a:alpha val="72000"/>
                  </a:srgbClr>
                </a:solidFill>
              </a:rPr>
              <a:t>Ubifood muestra información verificable para comparar antes de elegir: aprobación, menú, precios, ubicación y disponibilidad.</a:t>
            </a:r>
          </a:p>
        </p:txBody>
      </p:sp>
      <p:sp>
        <p:nvSpPr>
          <p:cNvPr id="10" name="trust-rule">
            <a:extLst xmlns:a="http://schemas.openxmlformats.org/drawingml/2006/main">
              <a:ext uri="{FF2B5EF4-FFF2-40B4-BE49-F238E27FC236}">
                <a16:creationId xmlns:a16="http://schemas.microsoft.com/office/drawing/2014/main" id="{A97F9BB4-798A-4BED-B9E5-718CACED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ust-title">
            <a:extLst xmlns:a="http://schemas.openxmlformats.org/drawingml/2006/main">
              <a:ext uri="{FF2B5EF4-FFF2-40B4-BE49-F238E27FC236}">
                <a16:creationId xmlns:a16="http://schemas.microsoft.com/office/drawing/2014/main" id="{516A44FF-92A2-4915-944A-211791DC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Siguiente evolución</a:t>
            </a:r>
          </a:p>
        </p:txBody>
      </p:sp>
      <p:sp>
        <p:nvSpPr>
          <p:cNvPr id="12" name="trust-copy">
            <a:extLst xmlns:a="http://schemas.openxmlformats.org/drawingml/2006/main">
              <a:ext uri="{FF2B5EF4-FFF2-40B4-BE49-F238E27FC236}">
                <a16:creationId xmlns:a16="http://schemas.microsoft.com/office/drawing/2014/main" id="{F0FB85B1-E061-4598-BE88-4F7FCA29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>
                    <a:alpha val="62000"/>
                  </a:srgbClr>
                </a:solidFill>
              </a:defRPr>
            </a:pPr>
            <a:r>
              <a:rPr sz="1425">
                <a:solidFill>
                  <a:srgbClr val="FFFFFF">
                    <a:alpha val="62000"/>
                  </a:srgbClr>
                </a:solidFill>
              </a:rPr>
              <a:t>Calificaciones y comentarios de clientes construirán una reputación visible para cada restaurante.</a:t>
            </a:r>
          </a:p>
        </p:txBody>
      </p:sp>
      <p:sp>
        <p:nvSpPr>
          <p:cNvPr id="13" name="logo-field">
            <a:extLst xmlns:a="http://schemas.openxmlformats.org/drawingml/2006/main">
              <a:ext uri="{FF2B5EF4-FFF2-40B4-BE49-F238E27FC236}">
                <a16:creationId xmlns:a16="http://schemas.microsoft.com/office/drawing/2014/main" id="{1E1E83F8-C947-46B7-9228-09EE2669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04900"/>
            <a:ext cx="3333750" cy="4000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50ad9762b42da"/>
          <a:stretch xmlns:a="http://schemas.openxmlformats.org/drawingml/2006/main"/>
        </p:blipFill>
        <p:spPr>
          <a:xfrm xmlns:a="http://schemas.openxmlformats.org/drawingml/2006/main">
            <a:off x="8028162" y="1809750"/>
            <a:ext cx="2326926" cy="1809750"/>
          </a:xfrm>
          <a:prstGeom xmlns:a="http://schemas.openxmlformats.org/drawingml/2006/main" prst="rect">
            <a:avLst/>
          </a:prstGeom>
        </p:spPr>
      </p:pic>
      <p:sp>
        <p:nvSpPr>
          <p:cNvPr id="15" name="zero-waste">
            <a:extLst xmlns:a="http://schemas.openxmlformats.org/drawingml/2006/main">
              <a:ext uri="{FF2B5EF4-FFF2-40B4-BE49-F238E27FC236}">
                <a16:creationId xmlns:a16="http://schemas.microsoft.com/office/drawing/2014/main" id="{9B07EDA5-4A2F-4EDB-AFB4-7553931C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82C91E"/>
                </a:solidFill>
              </a:defRPr>
            </a:pPr>
            <a:r>
              <a:rPr sz="2175" b="1">
                <a:solidFill>
                  <a:srgbClr val="82C91E"/>
                </a:solidFill>
              </a:rPr>
              <a:t>ELEGIR CON</a:t>
            </a:r>
          </a:p>
          <a:p xmlns:a="http://schemas.openxmlformats.org/drawingml/2006/main">
            <a:pPr algn="ctr">
              <a:defRPr sz="2175" b="1">
                <a:solidFill>
                  <a:srgbClr val="82C91E"/>
                </a:solidFill>
              </a:defRPr>
            </a:pPr>
            <a:r>
              <a:rPr sz="2175" b="1">
                <a:solidFill>
                  <a:srgbClr val="82C91E"/>
                </a:solidFill>
              </a:rPr>
              <a:t>CONFIANZA</a:t>
            </a:r>
          </a:p>
        </p:txBody>
      </p:sp>
      <p:sp>
        <p:nvSpPr>
          <p:cNvPr id="16" name="footer-4">
            <a:extLst xmlns:a="http://schemas.openxmlformats.org/drawingml/2006/main">
              <a:ext uri="{FF2B5EF4-FFF2-40B4-BE49-F238E27FC236}">
                <a16:creationId xmlns:a16="http://schemas.microsoft.com/office/drawing/2014/main" id="{403B4CE3-15E1-447D-A0F5-28C59F4D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>
                    <a:alpha val="55000"/>
                  </a:srgbClr>
                </a:solidFill>
              </a:defRPr>
            </a:pPr>
            <a:r>
              <a:rPr sz="825" b="1">
                <a:solidFill>
                  <a:srgbClr val="FFFFFF">
                    <a:alpha val="55000"/>
                  </a:srgbClr>
                </a:solidFill>
              </a:rPr>
              <a:t>UBIFOOD  /  LA PAZ  /  04</a:t>
            </a:r>
          </a:p>
        </p:txBody>
      </p:sp>
    </p:spTree>
    <p:extLst>
      <p:ext uri="{BB962C8B-B14F-4D97-AF65-F5344CB8AC3E}">
        <p14:creationId xmlns:p14="http://schemas.microsoft.com/office/powerpoint/2010/main" val="842854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-0">
            <a:extLst xmlns:a="http://schemas.openxmlformats.org/drawingml/2006/main">
              <a:ext uri="{FF2B5EF4-FFF2-40B4-BE49-F238E27FC236}">
                <a16:creationId xmlns:a16="http://schemas.microsoft.com/office/drawing/2014/main" id="{A65AC7BD-258E-4937-87C8-8FC756F2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1">
            <a:extLst xmlns:a="http://schemas.openxmlformats.org/drawingml/2006/main">
              <a:ext uri="{FF2B5EF4-FFF2-40B4-BE49-F238E27FC236}">
                <a16:creationId xmlns:a16="http://schemas.microsoft.com/office/drawing/2014/main" id="{034BF29B-8B5B-4D0C-A836-A0B74097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2">
            <a:extLst xmlns:a="http://schemas.openxmlformats.org/drawingml/2006/main">
              <a:ext uri="{FF2B5EF4-FFF2-40B4-BE49-F238E27FC236}">
                <a16:creationId xmlns:a16="http://schemas.microsoft.com/office/drawing/2014/main" id="{814C3730-4151-410B-970A-F8DCE26F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ccent-3">
            <a:extLst xmlns:a="http://schemas.openxmlformats.org/drawingml/2006/main">
              <a:ext uri="{FF2B5EF4-FFF2-40B4-BE49-F238E27FC236}">
                <a16:creationId xmlns:a16="http://schemas.microsoft.com/office/drawing/2014/main" id="{191DE67F-160B-4260-9A7C-33C419CC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ent-4">
            <a:extLst xmlns:a="http://schemas.openxmlformats.org/drawingml/2006/main">
              <a:ext uri="{FF2B5EF4-FFF2-40B4-BE49-F238E27FC236}">
                <a16:creationId xmlns:a16="http://schemas.microsoft.com/office/drawing/2014/main" id="{29F36741-EC3A-471B-9DA7-2AA84D5F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5357D8FE-AFF3-48D0-879B-3D52E7A0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6F21"/>
                </a:solidFill>
              </a:defRPr>
            </a:pPr>
            <a:r>
              <a:rPr sz="1050" b="1">
                <a:solidFill>
                  <a:srgbClr val="F36F21"/>
                </a:solidFill>
              </a:rPr>
              <a:t>IMPACTO Y ESCALA</a:t>
            </a:r>
          </a:p>
        </p:txBody>
      </p:sp>
      <p:sp>
        <p:nvSpPr>
          <p:cNvPr id="7" name="headline">
            <a:extLst xmlns:a="http://schemas.openxmlformats.org/drawingml/2006/main">
              <a:ext uri="{FF2B5EF4-FFF2-40B4-BE49-F238E27FC236}">
                <a16:creationId xmlns:a16="http://schemas.microsoft.com/office/drawing/2014/main" id="{0AC9AFBB-25A8-4F3A-BEBE-CF221FA1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A17"/>
                </a:solidFill>
              </a:defRPr>
            </a:pPr>
            <a:r>
              <a:rPr sz="3150" b="1">
                <a:solidFill>
                  <a:srgbClr val="171A17"/>
                </a:solidFill>
              </a:rPr>
              <a:t>Más reconocimiento. Mejores decisiones.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fd3f2eae4479d"/>
          <a:stretch xmlns:a="http://schemas.openxmlformats.org/drawingml/2006/main"/>
        </p:blipFill>
        <p:spPr>
          <a:xfrm xmlns:a="http://schemas.openxmlformats.org/drawingml/2006/main">
            <a:off x="781050" y="224790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mode-NEGOCIO">
            <a:extLst xmlns:a="http://schemas.openxmlformats.org/drawingml/2006/main">
              <a:ext uri="{FF2B5EF4-FFF2-40B4-BE49-F238E27FC236}">
                <a16:creationId xmlns:a16="http://schemas.microsoft.com/office/drawing/2014/main" id="{B096FD8C-E5F7-41F5-9A9B-23FCC722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B7DF"/>
                </a:solidFill>
              </a:defRPr>
            </a:pPr>
            <a:r>
              <a:rPr sz="1950" b="1">
                <a:solidFill>
                  <a:srgbClr val="00B7DF"/>
                </a:solidFill>
              </a:rPr>
              <a:t>NEGOCIO</a:t>
            </a:r>
          </a:p>
        </p:txBody>
      </p:sp>
      <p:sp>
        <p:nvSpPr>
          <p:cNvPr id="10" name="mode-detail-NEGOCIO">
            <a:extLst xmlns:a="http://schemas.openxmlformats.org/drawingml/2006/main">
              <a:ext uri="{FF2B5EF4-FFF2-40B4-BE49-F238E27FC236}">
                <a16:creationId xmlns:a16="http://schemas.microsoft.com/office/drawing/2014/main" id="{1170433C-AF2A-4D24-9FCC-F96DE41B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812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Más visibilidad y clientes</a:t>
            </a:r>
          </a:p>
        </p:txBody>
      </p:sp>
      <p:sp>
        <p:nvSpPr>
          <p:cNvPr id="11" name="mode-divider-0">
            <a:extLst xmlns:a="http://schemas.openxmlformats.org/drawingml/2006/main">
              <a:ext uri="{FF2B5EF4-FFF2-40B4-BE49-F238E27FC236}">
                <a16:creationId xmlns:a16="http://schemas.microsoft.com/office/drawing/2014/main" id="{3865AFDB-AF3A-45D4-B9D9-1AB6DAFD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ode-CLIENTE">
            <a:extLst xmlns:a="http://schemas.openxmlformats.org/drawingml/2006/main">
              <a:ext uri="{FF2B5EF4-FFF2-40B4-BE49-F238E27FC236}">
                <a16:creationId xmlns:a16="http://schemas.microsoft.com/office/drawing/2014/main" id="{08587C6B-F489-4EB4-A57D-1EF4EEFA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2C91E"/>
                </a:solidFill>
              </a:defRPr>
            </a:pPr>
            <a:r>
              <a:rPr sz="1950" b="1">
                <a:solidFill>
                  <a:srgbClr val="82C91E"/>
                </a:solidFill>
              </a:rPr>
              <a:t>CLIENTE</a:t>
            </a:r>
          </a:p>
        </p:txBody>
      </p:sp>
      <p:sp>
        <p:nvSpPr>
          <p:cNvPr id="13" name="mode-detail-CLIENTE">
            <a:extLst xmlns:a="http://schemas.openxmlformats.org/drawingml/2006/main">
              <a:ext uri="{FF2B5EF4-FFF2-40B4-BE49-F238E27FC236}">
                <a16:creationId xmlns:a16="http://schemas.microsoft.com/office/drawing/2014/main" id="{392CC10A-ABB1-4D9E-AB15-A2ADD77E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480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Compara antes de elegir</a:t>
            </a:r>
          </a:p>
        </p:txBody>
      </p:sp>
      <p:sp>
        <p:nvSpPr>
          <p:cNvPr id="14" name="mode-divider-1">
            <a:extLst xmlns:a="http://schemas.openxmlformats.org/drawingml/2006/main">
              <a:ext uri="{FF2B5EF4-FFF2-40B4-BE49-F238E27FC236}">
                <a16:creationId xmlns:a16="http://schemas.microsoft.com/office/drawing/2014/main" id="{76B45563-07C6-4932-BE89-A0898764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de-CIUDAD">
            <a:extLst xmlns:a="http://schemas.openxmlformats.org/drawingml/2006/main">
              <a:ext uri="{FF2B5EF4-FFF2-40B4-BE49-F238E27FC236}">
                <a16:creationId xmlns:a16="http://schemas.microsoft.com/office/drawing/2014/main" id="{DA348362-D771-4F6C-B079-8C2348F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36F21"/>
                </a:solidFill>
              </a:defRPr>
            </a:pPr>
            <a:r>
              <a:rPr sz="1950" b="1">
                <a:solidFill>
                  <a:srgbClr val="F36F21"/>
                </a:solidFill>
              </a:rPr>
              <a:t>CIUDAD</a:t>
            </a:r>
          </a:p>
        </p:txBody>
      </p:sp>
      <p:sp>
        <p:nvSpPr>
          <p:cNvPr id="16" name="mode-detail-CIUDAD">
            <a:extLst xmlns:a="http://schemas.openxmlformats.org/drawingml/2006/main">
              <a:ext uri="{FF2B5EF4-FFF2-40B4-BE49-F238E27FC236}">
                <a16:creationId xmlns:a16="http://schemas.microsoft.com/office/drawing/2014/main" id="{1077C784-BEE7-475B-AB6F-A34C1035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Oferta local más conectada</a:t>
            </a:r>
          </a:p>
        </p:txBody>
      </p:sp>
      <p:sp>
        <p:nvSpPr>
          <p:cNvPr id="17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EF4914CB-76B9-4EBB-ABBA-936D0DE4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ing">
            <a:extLst xmlns:a="http://schemas.openxmlformats.org/drawingml/2006/main">
              <a:ext uri="{FF2B5EF4-FFF2-40B4-BE49-F238E27FC236}">
                <a16:creationId xmlns:a16="http://schemas.microsoft.com/office/drawing/2014/main" id="{32B324D5-4E8A-4983-99FE-6F38B8DC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UBIFOOD hace visibles a los negocios que vale la pena descubrir.</a:t>
            </a:r>
          </a:p>
        </p:txBody>
      </p:sp>
    </p:spTree>
    <p:extLst>
      <p:ext uri="{BB962C8B-B14F-4D97-AF65-F5344CB8AC3E}">
        <p14:creationId xmlns:p14="http://schemas.microsoft.com/office/powerpoint/2010/main" val="1645888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2026-07-21T19:59:03.2360000Z</dcterms:created>
  <dcterms:modified xsi:type="dcterms:W3CDTF">2026-07-21T19:59:03.2360000Z</dcterms:modified>
</coreProperties>
</file>