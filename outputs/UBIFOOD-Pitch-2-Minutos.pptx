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555d6f70934c47" /><Relationship Type="http://schemas.openxmlformats.org/officeDocument/2006/relationships/extended-properties" Target="/docProps/app.xml" Id="Refc8eec050fe40a7" /><Relationship Type="http://schemas.openxmlformats.org/officeDocument/2006/relationships/officeDocument" Target="/ppt/presentation.xml" Id="R0ba4ca793691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49d2884464fcc"/>
  </p:sldMasterIdLst>
  <p:notesMasterIdLst>
    <p:notesMasterId xmlns:r="http://schemas.openxmlformats.org/officeDocument/2006/relationships" r:id="R50172c7c563147ce"/>
  </p:notesMasterIdLst>
  <p:sldIdLst>
    <p:sldId xmlns:r="http://schemas.openxmlformats.org/officeDocument/2006/relationships" id="256" r:id="Rf2561d0922b64b1b"/>
    <p:sldId xmlns:r="http://schemas.openxmlformats.org/officeDocument/2006/relationships" id="257" r:id="Rc941f142f6e94e37"/>
    <p:sldId xmlns:r="http://schemas.openxmlformats.org/officeDocument/2006/relationships" id="258" r:id="R7dfb78e7522148c2"/>
    <p:sldId xmlns:r="http://schemas.openxmlformats.org/officeDocument/2006/relationships" id="259" r:id="Rdbe99d82b7fa41e3"/>
    <p:sldId xmlns:r="http://schemas.openxmlformats.org/officeDocument/2006/relationships" id="260" r:id="R30c2114f975e4a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a1709cfa64cf7" /><Relationship Type="http://schemas.openxmlformats.org/officeDocument/2006/relationships/slideMaster" Target="/ppt/slideMasters/slideMaster1.xml" Id="Rc6f49d2884464fcc" /><Relationship Type="http://schemas.openxmlformats.org/officeDocument/2006/relationships/notesMaster" Target="/ppt/notesMasters/notesMaster1.xml" Id="R50172c7c563147ce" /><Relationship Type="http://schemas.openxmlformats.org/officeDocument/2006/relationships/presProps" Target="/ppt/presProps.xml" Id="R313fd248f7fc4623" /><Relationship Type="http://schemas.openxmlformats.org/officeDocument/2006/relationships/tableStyles" Target="/ppt/tableStyles.xml" Id="R246f0aca13b84157" /><Relationship Type="http://schemas.openxmlformats.org/officeDocument/2006/relationships/slide" Target="/ppt/slides/slide1.xml" Id="Rf2561d0922b64b1b" /><Relationship Type="http://schemas.openxmlformats.org/officeDocument/2006/relationships/slide" Target="/ppt/slides/slide2.xml" Id="Rc941f142f6e94e37" /><Relationship Type="http://schemas.openxmlformats.org/officeDocument/2006/relationships/slide" Target="/ppt/slides/slide3.xml" Id="R7dfb78e7522148c2" /><Relationship Type="http://schemas.openxmlformats.org/officeDocument/2006/relationships/slide" Target="/ppt/slides/slide4.xml" Id="Rdbe99d82b7fa41e3" /><Relationship Type="http://schemas.openxmlformats.org/officeDocument/2006/relationships/slide" Target="/ppt/slides/slide5.xml" Id="R30c2114f975e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55d6f546d4a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070da601a4748" /><Relationship Type="http://schemas.openxmlformats.org/officeDocument/2006/relationships/notesMaster" Target="/ppt/notesMasters/notesMaster1.xml" Id="Rbb04c46949be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39625b6e954e1a" /><Relationship Type="http://schemas.openxmlformats.org/officeDocument/2006/relationships/notesMaster" Target="/ppt/notesMasters/notesMaster1.xml" Id="Rbc28510d975440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f4238a9584804" /><Relationship Type="http://schemas.openxmlformats.org/officeDocument/2006/relationships/notesMaster" Target="/ppt/notesMasters/notesMaster1.xml" Id="R09fb88d6f23e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1d6fd2e0a24226" /><Relationship Type="http://schemas.openxmlformats.org/officeDocument/2006/relationships/notesMaster" Target="/ppt/notesMasters/notesMaster1.xml" Id="Rd8775f5aa76540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850c0481324c86" /><Relationship Type="http://schemas.openxmlformats.org/officeDocument/2006/relationships/notesMaster" Target="/ppt/notesMasters/notesMaster1.xml" Id="R5b6c1067f9ab44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Buenas tardes. Ubifood es una plataforma pensada para La Paz que reúne comida cercana, rutas urbanas y ofertas contra el desperdicio. Nuestro objetivo es ayudar a decidir qué comer y cómo llegar, desde una sola experiencia.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la oferta gastronómica de pequeños y medianos negocios está dispersa. El estudiante o ciudadano pierde tiempo comparando lugares, precios y distancias. Al mismo tiempo, los comercios terminan el día con excedentes que no tienen un canal rápido de venta. Ubifood conecta ambos problemas: tiempo perdido y alimentos desperdiciados.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el módulo cliente, la persona busca restaurantes, platos o zonas y filtra por precio. Puede abrir un menú interactivo, revisar ubicación y ver promociones de rescate. Después, el planificador combina caminata, Mi Teleférico y PumaKatari, incluyendo transbordos, hasta dejar al usuario lo más cerca posible del restaurante. También consulta el índice UV y recomienda protección o paraguas.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el negocio, Ubifood ofrece un panel para administrar datos, horarios, ubicación, menú, disponibilidad diaria y promociones Cero Desperdicio. El administrador aprueba los comercios antes de publicarlos. Así, el cliente recibe información confiable y el restaurante obtiene un canal directo para vender más y reducir pérdidas.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MVP usa Next.js, Supabase y Vercel. Funciona como web, se instala como PWA y ya cuenta con un APK Android mediante Capacitor. Esta arquitectura reduce costos porque mantiene una sola base de código y permite integrarse en una futura super app. Ubifood conecta gastronomía, movilidad y sostenibilidad para La Paz.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7f844dde0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a01de264b452c" /><Relationship Type="http://schemas.openxmlformats.org/officeDocument/2006/relationships/slideLayout" Target="/ppt/slideLayouts/slideLayout1.xml" Id="Rdf68fd73368a4e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68fd73368a4e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a123a937e49a6" /><Relationship Type="http://schemas.openxmlformats.org/officeDocument/2006/relationships/image" Target="/ppt/media/image.jpeg" Id="Rd73efcbb66444802" /><Relationship Type="http://schemas.openxmlformats.org/officeDocument/2006/relationships/image" Target="/ppt/media/image.png" Id="R91487919e9f74890" /><Relationship Type="http://schemas.openxmlformats.org/officeDocument/2006/relationships/notesSlide" Target="/ppt/notesSlides/notesSlide1.xml" Id="R6c66814e295a4f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ddece70a744fd" /><Relationship Type="http://schemas.openxmlformats.org/officeDocument/2006/relationships/image" Target="/ppt/media/image2.jpeg" Id="R8ae3a7f8bd5143b5" /><Relationship Type="http://schemas.openxmlformats.org/officeDocument/2006/relationships/notesSlide" Target="/ppt/notesSlides/notesSlide2.xml" Id="R3f0a14298fc9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ab78f887440a" /><Relationship Type="http://schemas.openxmlformats.org/officeDocument/2006/relationships/image" Target="/ppt/media/image2.png" Id="Rd77035bf175048bd" /><Relationship Type="http://schemas.openxmlformats.org/officeDocument/2006/relationships/notesSlide" Target="/ppt/notesSlides/notesSlide3.xml" Id="R6fe0a120be30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d3fd5cd6f40bf" /><Relationship Type="http://schemas.openxmlformats.org/officeDocument/2006/relationships/image" Target="/ppt/media/image3.png" Id="Ref1813a55a8f486f" /><Relationship Type="http://schemas.openxmlformats.org/officeDocument/2006/relationships/notesSlide" Target="/ppt/notesSlides/notesSlide4.xml" Id="R331c2262c68b4d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e6206d6b04ae8" /><Relationship Type="http://schemas.openxmlformats.org/officeDocument/2006/relationships/image" Target="/ppt/media/image4.png" Id="R163c3741e5af4f0e" /><Relationship Type="http://schemas.openxmlformats.org/officeDocument/2006/relationships/notesSlide" Target="/ppt/notesSlides/notesSlide5.xml" Id="R5438612a2a4f4a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efcbb66444802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ark-overlay">
            <a:extLst xmlns:a="http://schemas.openxmlformats.org/drawingml/2006/main">
              <a:ext uri="{FF2B5EF4-FFF2-40B4-BE49-F238E27FC236}">
                <a16:creationId xmlns:a16="http://schemas.microsoft.com/office/drawing/2014/main" id="{9D918D52-3ACD-4F6B-8B7D-7B4E2CF0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0D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range-rail">
            <a:extLst xmlns:a="http://schemas.openxmlformats.org/drawingml/2006/main">
              <a:ext uri="{FF2B5EF4-FFF2-40B4-BE49-F238E27FC236}">
                <a16:creationId xmlns:a16="http://schemas.microsoft.com/office/drawing/2014/main" id="{0A4186FA-D2E4-42B8-B4EA-9153D5F4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lor-1">
            <a:extLst xmlns:a="http://schemas.openxmlformats.org/drawingml/2006/main">
              <a:ext uri="{FF2B5EF4-FFF2-40B4-BE49-F238E27FC236}">
                <a16:creationId xmlns:a16="http://schemas.microsoft.com/office/drawing/2014/main" id="{B21234B7-9E33-4647-A9E7-2B0A1929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lor-2">
            <a:extLst xmlns:a="http://schemas.openxmlformats.org/drawingml/2006/main">
              <a:ext uri="{FF2B5EF4-FFF2-40B4-BE49-F238E27FC236}">
                <a16:creationId xmlns:a16="http://schemas.microsoft.com/office/drawing/2014/main" id="{0D4513D6-5C2F-4E66-8C43-187B64BF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716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lor-3">
            <a:extLst xmlns:a="http://schemas.openxmlformats.org/drawingml/2006/main">
              <a:ext uri="{FF2B5EF4-FFF2-40B4-BE49-F238E27FC236}">
                <a16:creationId xmlns:a16="http://schemas.microsoft.com/office/drawing/2014/main" id="{956F3D33-B2E5-4E58-9EFB-8540FF50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743200"/>
            <a:ext cx="76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lor-4">
            <a:extLst xmlns:a="http://schemas.openxmlformats.org/drawingml/2006/main">
              <a:ext uri="{FF2B5EF4-FFF2-40B4-BE49-F238E27FC236}">
                <a16:creationId xmlns:a16="http://schemas.microsoft.com/office/drawing/2014/main" id="{C5EC8E2A-57CD-4A95-8C3A-27BE7BD2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114800"/>
            <a:ext cx="762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7919e9f74890"/>
          <a:stretch xmlns:a="http://schemas.openxmlformats.org/drawingml/2006/main"/>
        </p:blipFill>
        <p:spPr>
          <a:xfrm xmlns:a="http://schemas.openxmlformats.org/drawingml/2006/main">
            <a:off x="877628" y="647700"/>
            <a:ext cx="1445143" cy="1123950"/>
          </a:xfrm>
          <a:prstGeom xmlns:a="http://schemas.openxmlformats.org/drawingml/2006/main" prst="roundRect">
            <a:avLst>
              <a:gd name="adj" fmla="val 6780"/>
            </a:avLst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803FDCC-111A-4619-B3A5-2F210B19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UBIFOOD</a:t>
            </a:r>
          </a:p>
        </p:txBody>
      </p:sp>
      <p:sp>
        <p:nvSpPr>
          <p:cNvPr id="10" name="subtitle">
            <a:extLst xmlns:a="http://schemas.openxmlformats.org/drawingml/2006/main">
              <a:ext uri="{FF2B5EF4-FFF2-40B4-BE49-F238E27FC236}">
                <a16:creationId xmlns:a16="http://schemas.microsoft.com/office/drawing/2014/main" id="{8A9996DA-8862-4D82-B28A-B71B1FD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Comida cercana. Rutas claras. Menos desperdicio.</a:t>
            </a:r>
          </a:p>
        </p:txBody>
      </p:sp>
      <p:sp>
        <p:nvSpPr>
          <p:cNvPr id="11" name="title-rule">
            <a:extLst xmlns:a="http://schemas.openxmlformats.org/drawingml/2006/main">
              <a:ext uri="{FF2B5EF4-FFF2-40B4-BE49-F238E27FC236}">
                <a16:creationId xmlns:a16="http://schemas.microsoft.com/office/drawing/2014/main" id="{CF000CAE-F470-48ED-9FDC-5CE7A02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xt">
            <a:extLst xmlns:a="http://schemas.openxmlformats.org/drawingml/2006/main">
              <a:ext uri="{FF2B5EF4-FFF2-40B4-BE49-F238E27FC236}">
                <a16:creationId xmlns:a16="http://schemas.microsoft.com/office/drawing/2014/main" id="{9CEFAB94-25C7-48BC-B252-92EB3DAA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>
                    <a:alpha val="78000"/>
                  </a:srgbClr>
                </a:solidFill>
              </a:defRPr>
            </a:pPr>
            <a:r>
              <a:rPr sz="1500">
                <a:solidFill>
                  <a:srgbClr val="FFFFFF">
                    <a:alpha val="78000"/>
                  </a:srgbClr>
                </a:solidFill>
              </a:rPr>
              <a:t>MVP para la ciudad de La Paz, Bolivia</a:t>
            </a:r>
          </a:p>
        </p:txBody>
      </p:sp>
      <p:sp>
        <p:nvSpPr>
          <p:cNvPr id="13" name="url">
            <a:extLst xmlns:a="http://schemas.openxmlformats.org/drawingml/2006/main">
              <a:ext uri="{FF2B5EF4-FFF2-40B4-BE49-F238E27FC236}">
                <a16:creationId xmlns:a16="http://schemas.microsoft.com/office/drawing/2014/main" id="{9A6E11D1-A34F-4A6F-8A17-34F2E084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CA0A"/>
                </a:solidFill>
              </a:defRPr>
            </a:pPr>
            <a:r>
              <a:rPr sz="1200" b="1">
                <a:solidFill>
                  <a:srgbClr val="FFCA0A"/>
                </a:solidFill>
              </a:rPr>
              <a:t>ubifood-livid.vercel.app</a:t>
            </a:r>
          </a:p>
        </p:txBody>
      </p:sp>
    </p:spTree>
    <p:extLst>
      <p:ext uri="{BB962C8B-B14F-4D97-AF65-F5344CB8AC3E}">
        <p14:creationId xmlns:p14="http://schemas.microsoft.com/office/powerpoint/2010/main" val="1560798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3a7f8bd5143b5"/>
          <a:srcRect xmlns:a="http://schemas.openxmlformats.org/drawingml/2006/main" l="28733" t="0" r="287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mage-overlay">
            <a:extLst xmlns:a="http://schemas.openxmlformats.org/drawingml/2006/main">
              <a:ext uri="{FF2B5EF4-FFF2-40B4-BE49-F238E27FC236}">
                <a16:creationId xmlns:a16="http://schemas.microsoft.com/office/drawing/2014/main" id="{4D3ED983-5571-48B4-81AD-EF064E2E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611">
              <a:alpha val="4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range-band">
            <a:extLst xmlns:a="http://schemas.openxmlformats.org/drawingml/2006/main">
              <a:ext uri="{FF2B5EF4-FFF2-40B4-BE49-F238E27FC236}">
                <a16:creationId xmlns:a16="http://schemas.microsoft.com/office/drawing/2014/main" id="{A68C1DE7-F7E2-4247-B3FF-24B68A11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4667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60AEE135-4CE8-4D90-A5A1-34C640A7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3571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TIEMPO PERDIDO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+ ALIMENTOS DESPERDICIADOS</a:t>
            </a:r>
          </a:p>
        </p:txBody>
      </p:sp>
      <p:sp>
        <p:nvSpPr>
          <p:cNvPr id="5" name="accent-0">
            <a:extLst xmlns:a="http://schemas.openxmlformats.org/drawingml/2006/main">
              <a:ext uri="{FF2B5EF4-FFF2-40B4-BE49-F238E27FC236}">
                <a16:creationId xmlns:a16="http://schemas.microsoft.com/office/drawing/2014/main" id="{BB163256-C944-4029-BC2D-F0C9F9C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cent-1">
            <a:extLst xmlns:a="http://schemas.openxmlformats.org/drawingml/2006/main">
              <a:ext uri="{FF2B5EF4-FFF2-40B4-BE49-F238E27FC236}">
                <a16:creationId xmlns:a16="http://schemas.microsoft.com/office/drawing/2014/main" id="{2BE40468-DD2A-443C-BA2F-34C3C601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-2">
            <a:extLst xmlns:a="http://schemas.openxmlformats.org/drawingml/2006/main">
              <a:ext uri="{FF2B5EF4-FFF2-40B4-BE49-F238E27FC236}">
                <a16:creationId xmlns:a16="http://schemas.microsoft.com/office/drawing/2014/main" id="{928C629F-B2F2-41CA-A0E8-6F143A09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ccent-3">
            <a:extLst xmlns:a="http://schemas.openxmlformats.org/drawingml/2006/main">
              <a:ext uri="{FF2B5EF4-FFF2-40B4-BE49-F238E27FC236}">
                <a16:creationId xmlns:a16="http://schemas.microsoft.com/office/drawing/2014/main" id="{FFFBE3F3-E0F7-4112-A562-96866D1B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-4">
            <a:extLst xmlns:a="http://schemas.openxmlformats.org/drawingml/2006/main">
              <a:ext uri="{FF2B5EF4-FFF2-40B4-BE49-F238E27FC236}">
                <a16:creationId xmlns:a16="http://schemas.microsoft.com/office/drawing/2014/main" id="{900E8BA6-97F0-4E45-A5A7-2720A0A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EB6875F4-8047-43B0-816E-56E16FB1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048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</a:defRPr>
            </a:pPr>
            <a:r>
              <a:rPr sz="1050" b="1">
                <a:solidFill>
                  <a:srgbClr val="F36F21"/>
                </a:solidFill>
              </a:rPr>
              <a:t>EL PROBLEMA</a:t>
            </a:r>
          </a:p>
        </p:txBody>
      </p:sp>
      <p:sp>
        <p:nvSpPr>
          <p:cNvPr id="11" name="headline">
            <a:extLst xmlns:a="http://schemas.openxmlformats.org/drawingml/2006/main">
              <a:ext uri="{FF2B5EF4-FFF2-40B4-BE49-F238E27FC236}">
                <a16:creationId xmlns:a16="http://schemas.microsoft.com/office/drawing/2014/main" id="{494F1B01-7680-4ECD-A9C0-4FED67CE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23950"/>
            <a:ext cx="609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7"/>
                </a:solidFill>
              </a:defRPr>
            </a:pPr>
            <a:r>
              <a:rPr sz="3000" b="1">
                <a:solidFill>
                  <a:srgbClr val="171A17"/>
                </a:solidFill>
              </a:rPr>
              <a:t>La oferta existe; encontrarla a tiempo es lo difícil.</a:t>
            </a:r>
          </a:p>
        </p:txBody>
      </p:sp>
      <p:sp>
        <p:nvSpPr>
          <p:cNvPr id="12" name="number-one">
            <a:extLst xmlns:a="http://schemas.openxmlformats.org/drawingml/2006/main">
              <a:ext uri="{FF2B5EF4-FFF2-40B4-BE49-F238E27FC236}">
                <a16:creationId xmlns:a16="http://schemas.microsoft.com/office/drawing/2014/main" id="{A11D0F12-B672-4669-9FCE-E292A24C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B7DF"/>
                </a:solidFill>
              </a:defRPr>
            </a:pPr>
            <a:r>
              <a:rPr sz="2100" b="1">
                <a:solidFill>
                  <a:srgbClr val="00B7DF"/>
                </a:solidFill>
              </a:rPr>
              <a:t>01</a:t>
            </a:r>
          </a:p>
        </p:txBody>
      </p:sp>
      <p:sp>
        <p:nvSpPr>
          <p:cNvPr id="13" name="citizen-title">
            <a:extLst xmlns:a="http://schemas.openxmlformats.org/drawingml/2006/main">
              <a:ext uri="{FF2B5EF4-FFF2-40B4-BE49-F238E27FC236}">
                <a16:creationId xmlns:a16="http://schemas.microsoft.com/office/drawing/2014/main" id="{D99A1868-95C6-49E7-9B33-4D13EFD0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A17"/>
                </a:solidFill>
              </a:defRPr>
            </a:pPr>
            <a:r>
              <a:rPr sz="1875" b="1">
                <a:solidFill>
                  <a:srgbClr val="171A17"/>
                </a:solidFill>
              </a:rPr>
              <a:t>Para quien busca comida</a:t>
            </a:r>
          </a:p>
        </p:txBody>
      </p:sp>
      <p:sp>
        <p:nvSpPr>
          <p:cNvPr id="14" name="citizen-copy">
            <a:extLst xmlns:a="http://schemas.openxmlformats.org/drawingml/2006/main">
              <a:ext uri="{FF2B5EF4-FFF2-40B4-BE49-F238E27FC236}">
                <a16:creationId xmlns:a16="http://schemas.microsoft.com/office/drawing/2014/main" id="{26096345-2F1F-49AE-8942-0860EDCE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55F"/>
                </a:solidFill>
              </a:defRPr>
            </a:pPr>
            <a:r>
              <a:rPr sz="1425">
                <a:solidFill>
                  <a:srgbClr val="5E655F"/>
                </a:solidFill>
              </a:rPr>
              <a:t>Restaurantes, precios, distancias y rutas aparecen dispersos. Elegir rápido cuesta tiempo.</a:t>
            </a:r>
          </a:p>
        </p:txBody>
      </p:sp>
      <p:sp>
        <p:nvSpPr>
          <p:cNvPr id="15" name="divider">
            <a:extLst xmlns:a="http://schemas.openxmlformats.org/drawingml/2006/main">
              <a:ext uri="{FF2B5EF4-FFF2-40B4-BE49-F238E27FC236}">
                <a16:creationId xmlns:a16="http://schemas.microsoft.com/office/drawing/2014/main" id="{4EF01D30-08EC-4464-9B0E-DC3F4132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ber-two">
            <a:extLst xmlns:a="http://schemas.openxmlformats.org/drawingml/2006/main">
              <a:ext uri="{FF2B5EF4-FFF2-40B4-BE49-F238E27FC236}">
                <a16:creationId xmlns:a16="http://schemas.microsoft.com/office/drawing/2014/main" id="{2EAF6C56-5A9E-465E-AE68-53124F4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19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82C91E"/>
                </a:solidFill>
              </a:defRPr>
            </a:pPr>
            <a:r>
              <a:rPr sz="2100" b="1">
                <a:solidFill>
                  <a:srgbClr val="82C91E"/>
                </a:solidFill>
              </a:rPr>
              <a:t>02</a:t>
            </a:r>
          </a:p>
        </p:txBody>
      </p:sp>
      <p:sp>
        <p:nvSpPr>
          <p:cNvPr id="17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792B8950-A7B3-4A88-8E99-0F62245E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1A17"/>
                </a:solidFill>
              </a:defRPr>
            </a:pPr>
            <a:r>
              <a:rPr sz="1875" b="1">
                <a:solidFill>
                  <a:srgbClr val="171A17"/>
                </a:solidFill>
              </a:rPr>
              <a:t>Para los negocios</a:t>
            </a:r>
          </a:p>
        </p:txBody>
      </p:sp>
      <p:sp>
        <p:nvSpPr>
          <p:cNvPr id="18" name="business-copy">
            <a:extLst xmlns:a="http://schemas.openxmlformats.org/drawingml/2006/main">
              <a:ext uri="{FF2B5EF4-FFF2-40B4-BE49-F238E27FC236}">
                <a16:creationId xmlns:a16="http://schemas.microsoft.com/office/drawing/2014/main" id="{2B56E195-8BAC-45D7-8FB2-F1008AF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768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55F"/>
                </a:solidFill>
              </a:defRPr>
            </a:pPr>
            <a:r>
              <a:rPr sz="1425">
                <a:solidFill>
                  <a:srgbClr val="5E655F"/>
                </a:solidFill>
              </a:rPr>
              <a:t>Los excedentes del día no tienen un canal inmediato para convertirse en una última venta.</a:t>
            </a:r>
          </a:p>
        </p:txBody>
      </p:sp>
      <p:sp>
        <p:nvSpPr>
          <p:cNvPr id="19" name="footer-2">
            <a:extLst xmlns:a="http://schemas.openxmlformats.org/drawingml/2006/main">
              <a:ext uri="{FF2B5EF4-FFF2-40B4-BE49-F238E27FC236}">
                <a16:creationId xmlns:a16="http://schemas.microsoft.com/office/drawing/2014/main" id="{39526592-6C46-424F-8D9A-F371DF7B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1A17">
                    <a:alpha val="45000"/>
                  </a:srgbClr>
                </a:solidFill>
              </a:defRPr>
            </a:pPr>
            <a:r>
              <a:rPr sz="825" b="1">
                <a:solidFill>
                  <a:srgbClr val="171A17">
                    <a:alpha val="45000"/>
                  </a:srgbClr>
                </a:solidFill>
              </a:rPr>
              <a:t>UBIFOOD  /  LA PAZ  /  02</a:t>
            </a:r>
          </a:p>
        </p:txBody>
      </p:sp>
    </p:spTree>
    <p:extLst>
      <p:ext uri="{BB962C8B-B14F-4D97-AF65-F5344CB8AC3E}">
        <p14:creationId xmlns:p14="http://schemas.microsoft.com/office/powerpoint/2010/main" val="1387341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accent-0">
            <a:extLst xmlns:a="http://schemas.openxmlformats.org/drawingml/2006/main">
              <a:ext uri="{FF2B5EF4-FFF2-40B4-BE49-F238E27FC236}">
                <a16:creationId xmlns:a16="http://schemas.microsoft.com/office/drawing/2014/main" id="{3BBDA4C2-6D56-43C2-9505-A29FD852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1">
            <a:extLst xmlns:a="http://schemas.openxmlformats.org/drawingml/2006/main">
              <a:ext uri="{FF2B5EF4-FFF2-40B4-BE49-F238E27FC236}">
                <a16:creationId xmlns:a16="http://schemas.microsoft.com/office/drawing/2014/main" id="{19D89958-80A3-459C-972D-96D112CD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D7C2FEE9-0F4C-4163-AB66-CDF432C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83A01893-686D-4D18-A82E-D0C03E4E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4">
            <a:extLst xmlns:a="http://schemas.openxmlformats.org/drawingml/2006/main">
              <a:ext uri="{FF2B5EF4-FFF2-40B4-BE49-F238E27FC236}">
                <a16:creationId xmlns:a16="http://schemas.microsoft.com/office/drawing/2014/main" id="{E1C0456F-2C44-43F0-A85F-96D14F68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80044194-D265-49E4-97A8-18843DF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B7DF"/>
                </a:solidFill>
              </a:defRPr>
            </a:pPr>
            <a:r>
              <a:rPr sz="1050" b="1">
                <a:solidFill>
                  <a:srgbClr val="00B7DF"/>
                </a:solidFill>
              </a:rPr>
              <a:t>LA EXPERIENCIA</a:t>
            </a:r>
          </a:p>
        </p:txBody>
      </p:sp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E03F695E-FF41-439E-A39D-045157AE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A17"/>
                </a:solidFill>
              </a:defRPr>
            </a:pPr>
            <a:r>
              <a:rPr sz="3000" b="1">
                <a:solidFill>
                  <a:srgbClr val="171A17"/>
                </a:solidFill>
              </a:rPr>
              <a:t>Del plato a la puerta, en una sola decisión.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5575E436-CF2F-4F5C-88DC-183531A3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348DF568-E96A-47BC-BC7C-01EFC340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8B035CAC-5D1D-4526-B42E-6B5CB2B1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240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Busca</a:t>
            </a:r>
          </a:p>
        </p:txBody>
      </p:sp>
      <p:sp>
        <p:nvSpPr>
          <p:cNvPr id="11" name="step-copy-1">
            <a:extLst xmlns:a="http://schemas.openxmlformats.org/drawingml/2006/main">
              <a:ext uri="{FF2B5EF4-FFF2-40B4-BE49-F238E27FC236}">
                <a16:creationId xmlns:a16="http://schemas.microsoft.com/office/drawing/2014/main" id="{85CD7DC9-9E8D-4166-A63C-90A44B6B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Restaurante, comida, zona o precio.</a:t>
            </a:r>
          </a:p>
        </p:txBody>
      </p:sp>
      <p:sp>
        <p:nvSpPr>
          <p:cNvPr id="12" name="step-dot-2">
            <a:extLst xmlns:a="http://schemas.openxmlformats.org/drawingml/2006/main">
              <a:ext uri="{FF2B5EF4-FFF2-40B4-BE49-F238E27FC236}">
                <a16:creationId xmlns:a16="http://schemas.microsoft.com/office/drawing/2014/main" id="{17F67A32-E041-47B6-9D20-7BA34C3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9B6B537-3238-41F4-A5F0-E22AAF91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A22C47D2-0E68-4E80-B1F2-F01A2DBD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384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Compara</a:t>
            </a:r>
          </a:p>
        </p:txBody>
      </p:sp>
      <p:sp>
        <p:nvSpPr>
          <p:cNvPr id="15" name="step-copy-2">
            <a:extLst xmlns:a="http://schemas.openxmlformats.org/drawingml/2006/main">
              <a:ext uri="{FF2B5EF4-FFF2-40B4-BE49-F238E27FC236}">
                <a16:creationId xmlns:a16="http://schemas.microsoft.com/office/drawing/2014/main" id="{4E9D567B-59F6-4C4A-A499-6F56C535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Menús, disponibilidad y ofertas de rescate.</a:t>
            </a:r>
          </a:p>
        </p:txBody>
      </p:sp>
      <p:sp>
        <p:nvSpPr>
          <p:cNvPr id="16" name="step-dot-3">
            <a:extLst xmlns:a="http://schemas.openxmlformats.org/drawingml/2006/main">
              <a:ext uri="{FF2B5EF4-FFF2-40B4-BE49-F238E27FC236}">
                <a16:creationId xmlns:a16="http://schemas.microsoft.com/office/drawing/2014/main" id="{6ADD1384-554D-4A39-BADD-A0E769B4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D886795-F857-4481-B0FB-BABB1469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290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2465C250-9875-47D7-ACD7-46177979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Planea</a:t>
            </a:r>
          </a:p>
        </p:txBody>
      </p:sp>
      <p:sp>
        <p:nvSpPr>
          <p:cNvPr id="19" name="step-copy-3">
            <a:extLst xmlns:a="http://schemas.openxmlformats.org/drawingml/2006/main">
              <a:ext uri="{FF2B5EF4-FFF2-40B4-BE49-F238E27FC236}">
                <a16:creationId xmlns:a16="http://schemas.microsoft.com/office/drawing/2014/main" id="{1EC6B04C-D077-4D6B-B377-EED93C1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Caminata, Teleférico y PumaKatari.</a:t>
            </a:r>
          </a:p>
        </p:txBody>
      </p:sp>
      <p:sp>
        <p:nvSpPr>
          <p:cNvPr id="20" name="step-dot-4">
            <a:extLst xmlns:a="http://schemas.openxmlformats.org/drawingml/2006/main">
              <a:ext uri="{FF2B5EF4-FFF2-40B4-BE49-F238E27FC236}">
                <a16:creationId xmlns:a16="http://schemas.microsoft.com/office/drawing/2014/main" id="{BA01EE9D-AC94-43B0-BD8D-A26DA5CB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6AA80519-83C7-401D-BAB0-3F4CF22B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CD782AEF-5ED2-4BC3-9835-DCFE5F33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67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Prepárate</a:t>
            </a:r>
          </a:p>
        </p:txBody>
      </p:sp>
      <p:sp>
        <p:nvSpPr>
          <p:cNvPr id="23" name="step-copy-4">
            <a:extLst xmlns:a="http://schemas.openxmlformats.org/drawingml/2006/main">
              <a:ext uri="{FF2B5EF4-FFF2-40B4-BE49-F238E27FC236}">
                <a16:creationId xmlns:a16="http://schemas.microsoft.com/office/drawing/2014/main" id="{9E2180CD-53B8-4222-A797-A3168E85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E655F"/>
                </a:solidFill>
              </a:defRPr>
            </a:pPr>
            <a:r>
              <a:rPr sz="1200">
                <a:solidFill>
                  <a:srgbClr val="5E655F"/>
                </a:solidFill>
              </a:rPr>
              <a:t>Índice UV y recomendación visual.</a:t>
            </a:r>
          </a:p>
        </p:txBody>
      </p:sp>
      <p:sp>
        <p:nvSpPr>
          <p:cNvPr id="24" name="screenshot-shadow">
            <a:extLst xmlns:a="http://schemas.openxmlformats.org/drawingml/2006/main">
              <a:ext uri="{FF2B5EF4-FFF2-40B4-BE49-F238E27FC236}">
                <a16:creationId xmlns:a16="http://schemas.microsoft.com/office/drawing/2014/main" id="{8B477BF9-2D27-4E09-9ACD-AFEBCFA7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695325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71A17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035bf175048bd"/>
          <a:stretch xmlns:a="http://schemas.openxmlformats.org/drawingml/2006/main"/>
        </p:blipFill>
        <p:spPr>
          <a:xfrm xmlns:a="http://schemas.openxmlformats.org/drawingml/2006/main">
            <a:off x="4362450" y="2344863"/>
            <a:ext cx="6953250" cy="3082673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26" name="footer-3">
            <a:extLst xmlns:a="http://schemas.openxmlformats.org/drawingml/2006/main">
              <a:ext uri="{FF2B5EF4-FFF2-40B4-BE49-F238E27FC236}">
                <a16:creationId xmlns:a16="http://schemas.microsoft.com/office/drawing/2014/main" id="{D033B2F6-3DE0-4EB8-9271-70C9DEE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1A17">
                    <a:alpha val="45000"/>
                  </a:srgbClr>
                </a:solidFill>
              </a:defRPr>
            </a:pPr>
            <a:r>
              <a:rPr sz="825" b="1">
                <a:solidFill>
                  <a:srgbClr val="171A17">
                    <a:alpha val="45000"/>
                  </a:srgbClr>
                </a:solidFill>
              </a:rPr>
              <a:t>UBIFOOD  /  LA PAZ  /  03</a:t>
            </a:r>
          </a:p>
        </p:txBody>
      </p:sp>
    </p:spTree>
    <p:extLst>
      <p:ext uri="{BB962C8B-B14F-4D97-AF65-F5344CB8AC3E}">
        <p14:creationId xmlns:p14="http://schemas.microsoft.com/office/powerpoint/2010/main" val="1010622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een-rail">
            <a:extLst xmlns:a="http://schemas.openxmlformats.org/drawingml/2006/main">
              <a:ext uri="{FF2B5EF4-FFF2-40B4-BE49-F238E27FC236}">
                <a16:creationId xmlns:a16="http://schemas.microsoft.com/office/drawing/2014/main" id="{92DE4EED-08D3-419D-9ED3-C10CDF63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0">
            <a:extLst xmlns:a="http://schemas.openxmlformats.org/drawingml/2006/main">
              <a:ext uri="{FF2B5EF4-FFF2-40B4-BE49-F238E27FC236}">
                <a16:creationId xmlns:a16="http://schemas.microsoft.com/office/drawing/2014/main" id="{083C25B8-A804-4423-97B9-136477E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B0F62FA5-72C5-4336-81DC-750CBC33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2">
            <a:extLst xmlns:a="http://schemas.openxmlformats.org/drawingml/2006/main">
              <a:ext uri="{FF2B5EF4-FFF2-40B4-BE49-F238E27FC236}">
                <a16:creationId xmlns:a16="http://schemas.microsoft.com/office/drawing/2014/main" id="{F113AB3E-3870-43ED-A17A-DF5FD52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3">
            <a:extLst xmlns:a="http://schemas.openxmlformats.org/drawingml/2006/main">
              <a:ext uri="{FF2B5EF4-FFF2-40B4-BE49-F238E27FC236}">
                <a16:creationId xmlns:a16="http://schemas.microsoft.com/office/drawing/2014/main" id="{E19135C9-54F3-458C-8AE2-221DF7F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ccent-4">
            <a:extLst xmlns:a="http://schemas.openxmlformats.org/drawingml/2006/main">
              <a:ext uri="{FF2B5EF4-FFF2-40B4-BE49-F238E27FC236}">
                <a16:creationId xmlns:a16="http://schemas.microsoft.com/office/drawing/2014/main" id="{8F73016B-365E-4AA1-BBA0-77B867A6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21B7CB2B-BEF5-44A9-85B5-5E8F6200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2C91E"/>
                </a:solidFill>
              </a:defRPr>
            </a:pPr>
            <a:r>
              <a:rPr sz="1050" b="1">
                <a:solidFill>
                  <a:srgbClr val="82C91E"/>
                </a:solidFill>
              </a:rPr>
              <a:t>NEGOCIOS + ADMINISTRACIÓN</a:t>
            </a:r>
          </a:p>
        </p:txBody>
      </p:sp>
      <p:sp>
        <p:nvSpPr>
          <p:cNvPr id="8" name="headline">
            <a:extLst xmlns:a="http://schemas.openxmlformats.org/drawingml/2006/main">
              <a:ext uri="{FF2B5EF4-FFF2-40B4-BE49-F238E27FC236}">
                <a16:creationId xmlns:a16="http://schemas.microsoft.com/office/drawing/2014/main" id="{B5EA68EA-BB42-461F-95FF-B0A0070E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Los excedentes se convierten en oportunidades.</a:t>
            </a:r>
          </a:p>
        </p:txBody>
      </p:sp>
      <p:sp>
        <p:nvSpPr>
          <p:cNvPr id="9" name="business-copy">
            <a:extLst xmlns:a="http://schemas.openxmlformats.org/drawingml/2006/main">
              <a:ext uri="{FF2B5EF4-FFF2-40B4-BE49-F238E27FC236}">
                <a16:creationId xmlns:a16="http://schemas.microsoft.com/office/drawing/2014/main" id="{9319B2D3-3D60-41B1-90A8-F675943C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552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>
                    <a:alpha val="72000"/>
                  </a:srgbClr>
                </a:solidFill>
              </a:defRPr>
            </a:pPr>
            <a:r>
              <a:rPr sz="1650">
                <a:solidFill>
                  <a:srgbClr val="FFFFFF">
                    <a:alpha val="72000"/>
                  </a:srgbClr>
                </a:solidFill>
              </a:rPr>
              <a:t>Cada comercio controla su ficha, horarios, ubicación, menú, disponibilidad y promociones Cero Desperdicio.</a:t>
            </a:r>
          </a:p>
        </p:txBody>
      </p:sp>
      <p:sp>
        <p:nvSpPr>
          <p:cNvPr id="10" name="trust-rule">
            <a:extLst xmlns:a="http://schemas.openxmlformats.org/drawingml/2006/main">
              <a:ext uri="{FF2B5EF4-FFF2-40B4-BE49-F238E27FC236}">
                <a16:creationId xmlns:a16="http://schemas.microsoft.com/office/drawing/2014/main" id="{793AA246-C7D5-42AA-BB0C-2B0184BC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rust-title">
            <a:extLst xmlns:a="http://schemas.openxmlformats.org/drawingml/2006/main">
              <a:ext uri="{FF2B5EF4-FFF2-40B4-BE49-F238E27FC236}">
                <a16:creationId xmlns:a16="http://schemas.microsoft.com/office/drawing/2014/main" id="{9D8C7178-5A68-451B-B930-629ED6B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Información confiable</a:t>
            </a:r>
          </a:p>
        </p:txBody>
      </p:sp>
      <p:sp>
        <p:nvSpPr>
          <p:cNvPr id="12" name="trust-copy">
            <a:extLst xmlns:a="http://schemas.openxmlformats.org/drawingml/2006/main">
              <a:ext uri="{FF2B5EF4-FFF2-40B4-BE49-F238E27FC236}">
                <a16:creationId xmlns:a16="http://schemas.microsoft.com/office/drawing/2014/main" id="{889B44BE-4109-4863-B145-39261C41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>
                    <a:alpha val="62000"/>
                  </a:srgbClr>
                </a:solidFill>
              </a:defRPr>
            </a:pPr>
            <a:r>
              <a:rPr sz="1425">
                <a:solidFill>
                  <a:srgbClr val="FFFFFF">
                    <a:alpha val="62000"/>
                  </a:srgbClr>
                </a:solidFill>
              </a:rPr>
              <a:t>El administrador aprueba los negocios antes de publicarlos para clientes.</a:t>
            </a:r>
          </a:p>
        </p:txBody>
      </p:sp>
      <p:sp>
        <p:nvSpPr>
          <p:cNvPr id="13" name="logo-field">
            <a:extLst xmlns:a="http://schemas.openxmlformats.org/drawingml/2006/main">
              <a:ext uri="{FF2B5EF4-FFF2-40B4-BE49-F238E27FC236}">
                <a16:creationId xmlns:a16="http://schemas.microsoft.com/office/drawing/2014/main" id="{5A8494D1-F90A-4CBE-B405-A93E8544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04900"/>
            <a:ext cx="3333750" cy="40005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1813a55a8f486f"/>
          <a:stretch xmlns:a="http://schemas.openxmlformats.org/drawingml/2006/main"/>
        </p:blipFill>
        <p:spPr>
          <a:xfrm xmlns:a="http://schemas.openxmlformats.org/drawingml/2006/main">
            <a:off x="8028162" y="1809750"/>
            <a:ext cx="2326926" cy="1809750"/>
          </a:xfrm>
          <a:prstGeom xmlns:a="http://schemas.openxmlformats.org/drawingml/2006/main" prst="rect">
            <a:avLst/>
          </a:prstGeom>
        </p:spPr>
      </p:pic>
      <p:sp>
        <p:nvSpPr>
          <p:cNvPr id="15" name="zero-waste">
            <a:extLst xmlns:a="http://schemas.openxmlformats.org/drawingml/2006/main">
              <a:ext uri="{FF2B5EF4-FFF2-40B4-BE49-F238E27FC236}">
                <a16:creationId xmlns:a16="http://schemas.microsoft.com/office/drawing/2014/main" id="{4526FBCE-EE53-4997-B9BF-87AC5890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82C91E"/>
                </a:solidFill>
              </a:defRPr>
            </a:pPr>
            <a:r>
              <a:rPr sz="2175" b="1">
                <a:solidFill>
                  <a:srgbClr val="82C91E"/>
                </a:solidFill>
              </a:rPr>
              <a:t>CERO</a:t>
            </a:r>
          </a:p>
          <a:p xmlns:a="http://schemas.openxmlformats.org/drawingml/2006/main">
            <a:pPr algn="ctr">
              <a:defRPr sz="2175" b="1">
                <a:solidFill>
                  <a:srgbClr val="82C91E"/>
                </a:solidFill>
              </a:defRPr>
            </a:pPr>
            <a:r>
              <a:rPr sz="2175" b="1">
                <a:solidFill>
                  <a:srgbClr val="82C91E"/>
                </a:solidFill>
              </a:rPr>
              <a:t>DESPERDICIO</a:t>
            </a:r>
          </a:p>
        </p:txBody>
      </p:sp>
      <p:sp>
        <p:nvSpPr>
          <p:cNvPr id="16" name="footer-4">
            <a:extLst xmlns:a="http://schemas.openxmlformats.org/drawingml/2006/main">
              <a:ext uri="{FF2B5EF4-FFF2-40B4-BE49-F238E27FC236}">
                <a16:creationId xmlns:a16="http://schemas.microsoft.com/office/drawing/2014/main" id="{AB92B312-155C-4972-BE83-8C1BD408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>
                    <a:alpha val="55000"/>
                  </a:srgbClr>
                </a:solidFill>
              </a:defRPr>
            </a:pPr>
            <a:r>
              <a:rPr sz="825" b="1">
                <a:solidFill>
                  <a:srgbClr val="FFFFFF">
                    <a:alpha val="55000"/>
                  </a:srgbClr>
                </a:solidFill>
              </a:rPr>
              <a:t>UBIFOOD  /  LA PAZ  /  04</a:t>
            </a:r>
          </a:p>
        </p:txBody>
      </p:sp>
    </p:spTree>
    <p:extLst>
      <p:ext uri="{BB962C8B-B14F-4D97-AF65-F5344CB8AC3E}">
        <p14:creationId xmlns:p14="http://schemas.microsoft.com/office/powerpoint/2010/main" val="554396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ccent-0">
            <a:extLst xmlns:a="http://schemas.openxmlformats.org/drawingml/2006/main">
              <a:ext uri="{FF2B5EF4-FFF2-40B4-BE49-F238E27FC236}">
                <a16:creationId xmlns:a16="http://schemas.microsoft.com/office/drawing/2014/main" id="{4526654B-2F14-4D55-8136-EA2CED22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F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ccent-1">
            <a:extLst xmlns:a="http://schemas.openxmlformats.org/drawingml/2006/main">
              <a:ext uri="{FF2B5EF4-FFF2-40B4-BE49-F238E27FC236}">
                <a16:creationId xmlns:a16="http://schemas.microsoft.com/office/drawing/2014/main" id="{51C00626-8263-43A8-8F5B-C32F5837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5D2F5EE7-B309-4F62-9DCE-CD8492B7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C9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cent-3">
            <a:extLst xmlns:a="http://schemas.openxmlformats.org/drawingml/2006/main">
              <a:ext uri="{FF2B5EF4-FFF2-40B4-BE49-F238E27FC236}">
                <a16:creationId xmlns:a16="http://schemas.microsoft.com/office/drawing/2014/main" id="{C555E770-FDCB-4F6F-9115-F3EC387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4">
            <a:extLst xmlns:a="http://schemas.openxmlformats.org/drawingml/2006/main">
              <a:ext uri="{FF2B5EF4-FFF2-40B4-BE49-F238E27FC236}">
                <a16:creationId xmlns:a16="http://schemas.microsoft.com/office/drawing/2014/main" id="{B180E6EE-CB38-40F0-ABFC-E628C92F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350"/>
            <a:ext cx="609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9B072219-66FB-4CFD-AF6D-AD0043AE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36F21"/>
                </a:solidFill>
              </a:defRPr>
            </a:pPr>
            <a:r>
              <a:rPr sz="1050" b="1">
                <a:solidFill>
                  <a:srgbClr val="F36F21"/>
                </a:solidFill>
              </a:rPr>
              <a:t>UN MVP LISTO PARA CRECER</a:t>
            </a:r>
          </a:p>
        </p:txBody>
      </p:sp>
      <p:sp>
        <p:nvSpPr>
          <p:cNvPr id="7" name="headline">
            <a:extLst xmlns:a="http://schemas.openxmlformats.org/drawingml/2006/main">
              <a:ext uri="{FF2B5EF4-FFF2-40B4-BE49-F238E27FC236}">
                <a16:creationId xmlns:a16="http://schemas.microsoft.com/office/drawing/2014/main" id="{DBC0DEAB-A81A-47E2-BC7E-048C9285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838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1A17"/>
                </a:solidFill>
              </a:defRPr>
            </a:pPr>
            <a:r>
              <a:rPr sz="3150" b="1">
                <a:solidFill>
                  <a:srgbClr val="171A17"/>
                </a:solidFill>
              </a:rPr>
              <a:t>Una base de código. Tres formas de llegar.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c3741e5af4f0e"/>
          <a:stretch xmlns:a="http://schemas.openxmlformats.org/drawingml/2006/main"/>
        </p:blipFill>
        <p:spPr>
          <a:xfrm xmlns:a="http://schemas.openxmlformats.org/drawingml/2006/main">
            <a:off x="781050" y="22479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9" name="mode-WEB">
            <a:extLst xmlns:a="http://schemas.openxmlformats.org/drawingml/2006/main">
              <a:ext uri="{FF2B5EF4-FFF2-40B4-BE49-F238E27FC236}">
                <a16:creationId xmlns:a16="http://schemas.microsoft.com/office/drawing/2014/main" id="{F8D87296-1B2E-41C4-B634-EA8B14E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526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B7DF"/>
                </a:solidFill>
              </a:defRPr>
            </a:pPr>
            <a:r>
              <a:rPr sz="2250" b="1">
                <a:solidFill>
                  <a:srgbClr val="00B7DF"/>
                </a:solidFill>
              </a:rPr>
              <a:t>WEB</a:t>
            </a:r>
          </a:p>
        </p:txBody>
      </p:sp>
      <p:sp>
        <p:nvSpPr>
          <p:cNvPr id="10" name="mode-detail-WEB">
            <a:extLst xmlns:a="http://schemas.openxmlformats.org/drawingml/2006/main">
              <a:ext uri="{FF2B5EF4-FFF2-40B4-BE49-F238E27FC236}">
                <a16:creationId xmlns:a16="http://schemas.microsoft.com/office/drawing/2014/main" id="{DB0BBE47-5B62-47FB-89ED-09AAA313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02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Next.js + Vercel</a:t>
            </a:r>
          </a:p>
        </p:txBody>
      </p:sp>
      <p:sp>
        <p:nvSpPr>
          <p:cNvPr id="11" name="mode-divider-0">
            <a:extLst xmlns:a="http://schemas.openxmlformats.org/drawingml/2006/main">
              <a:ext uri="{FF2B5EF4-FFF2-40B4-BE49-F238E27FC236}">
                <a16:creationId xmlns:a16="http://schemas.microsoft.com/office/drawing/2014/main" id="{75418E57-D7B6-478F-B38B-37DACDB6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ode-PWA">
            <a:extLst xmlns:a="http://schemas.openxmlformats.org/drawingml/2006/main">
              <a:ext uri="{FF2B5EF4-FFF2-40B4-BE49-F238E27FC236}">
                <a16:creationId xmlns:a16="http://schemas.microsoft.com/office/drawing/2014/main" id="{447FF084-733C-4073-9334-42F7A457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2C91E"/>
                </a:solidFill>
              </a:defRPr>
            </a:pPr>
            <a:r>
              <a:rPr sz="2250" b="1">
                <a:solidFill>
                  <a:srgbClr val="82C91E"/>
                </a:solidFill>
              </a:rPr>
              <a:t>PWA</a:t>
            </a:r>
          </a:p>
        </p:txBody>
      </p:sp>
      <p:sp>
        <p:nvSpPr>
          <p:cNvPr id="13" name="mode-detail-PWA">
            <a:extLst xmlns:a="http://schemas.openxmlformats.org/drawingml/2006/main">
              <a:ext uri="{FF2B5EF4-FFF2-40B4-BE49-F238E27FC236}">
                <a16:creationId xmlns:a16="http://schemas.microsoft.com/office/drawing/2014/main" id="{8CB7B179-27DC-4562-A39C-C98B93F9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Instalable desde el navegador</a:t>
            </a:r>
          </a:p>
        </p:txBody>
      </p:sp>
      <p:sp>
        <p:nvSpPr>
          <p:cNvPr id="14" name="mode-divider-1">
            <a:extLst xmlns:a="http://schemas.openxmlformats.org/drawingml/2006/main">
              <a:ext uri="{FF2B5EF4-FFF2-40B4-BE49-F238E27FC236}">
                <a16:creationId xmlns:a16="http://schemas.microsoft.com/office/drawing/2014/main" id="{EA0CC0FF-662F-4A08-B117-81B3E12D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-APK">
            <a:extLst xmlns:a="http://schemas.openxmlformats.org/drawingml/2006/main">
              <a:ext uri="{FF2B5EF4-FFF2-40B4-BE49-F238E27FC236}">
                <a16:creationId xmlns:a16="http://schemas.microsoft.com/office/drawing/2014/main" id="{150BE6FB-DEE6-45FA-856A-148B1DE3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36F21"/>
                </a:solidFill>
              </a:defRPr>
            </a:pPr>
            <a:r>
              <a:rPr sz="2250" b="1">
                <a:solidFill>
                  <a:srgbClr val="F36F21"/>
                </a:solidFill>
              </a:rPr>
              <a:t>APK</a:t>
            </a:r>
          </a:p>
        </p:txBody>
      </p:sp>
      <p:sp>
        <p:nvSpPr>
          <p:cNvPr id="16" name="mode-detail-APK">
            <a:extLst xmlns:a="http://schemas.openxmlformats.org/drawingml/2006/main">
              <a:ext uri="{FF2B5EF4-FFF2-40B4-BE49-F238E27FC236}">
                <a16:creationId xmlns:a16="http://schemas.microsoft.com/office/drawing/2014/main" id="{459499EB-F53F-4F4B-A68D-F743BCF4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A17"/>
                </a:solidFill>
              </a:defRPr>
            </a:pPr>
            <a:r>
              <a:rPr sz="1650" b="1">
                <a:solidFill>
                  <a:srgbClr val="171A17"/>
                </a:solidFill>
              </a:rPr>
              <a:t>Android mediante Capacitor</a:t>
            </a:r>
          </a:p>
        </p:txBody>
      </p:sp>
      <p:sp>
        <p:nvSpPr>
          <p:cNvPr id="17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E739E0B2-BFB2-4B04-970B-CA71F0C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">
            <a:extLst xmlns:a="http://schemas.openxmlformats.org/drawingml/2006/main">
              <a:ext uri="{FF2B5EF4-FFF2-40B4-BE49-F238E27FC236}">
                <a16:creationId xmlns:a16="http://schemas.microsoft.com/office/drawing/2014/main" id="{D70A83E7-E517-4FED-8C59-E8DACFE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UBIFOOD conecta gastronomía, movilidad y sostenibilidad para La Paz.</a:t>
            </a:r>
          </a:p>
        </p:txBody>
      </p:sp>
    </p:spTree>
    <p:extLst>
      <p:ext uri="{BB962C8B-B14F-4D97-AF65-F5344CB8AC3E}">
        <p14:creationId xmlns:p14="http://schemas.microsoft.com/office/powerpoint/2010/main" val="1790389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2026-07-21T18:06:48.3160000Z</dcterms:created>
  <dcterms:modified xsi:type="dcterms:W3CDTF">2026-07-21T18:06:48.3160000Z</dcterms:modified>
</coreProperties>
</file>